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60" r:id="rId5"/>
    <p:sldId id="261" r:id="rId6"/>
    <p:sldId id="275" r:id="rId7"/>
    <p:sldId id="272" r:id="rId8"/>
    <p:sldId id="273" r:id="rId9"/>
    <p:sldId id="274" r:id="rId10"/>
    <p:sldId id="277" r:id="rId11"/>
    <p:sldId id="278" r:id="rId12"/>
    <p:sldId id="279" r:id="rId13"/>
    <p:sldId id="276" r:id="rId14"/>
    <p:sldId id="280" r:id="rId15"/>
    <p:sldId id="281" r:id="rId16"/>
    <p:sldId id="282" r:id="rId17"/>
    <p:sldId id="283" r:id="rId18"/>
    <p:sldId id="284" r:id="rId19"/>
    <p:sldId id="285" r:id="rId20"/>
    <p:sldId id="286" r:id="rId21"/>
    <p:sldId id="262" r:id="rId22"/>
    <p:sldId id="263" r:id="rId23"/>
    <p:sldId id="264" r:id="rId24"/>
    <p:sldId id="265" r:id="rId25"/>
    <p:sldId id="266" r:id="rId26"/>
    <p:sldId id="267" r:id="rId27"/>
    <p:sldId id="268" r:id="rId28"/>
    <p:sldId id="269" r:id="rId29"/>
    <p:sldId id="270" r:id="rId30"/>
    <p:sldId id="271"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Stil tematic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ro-RO"/>
              <a:t>Faceți clic pentru a edita stilul de titlu coordonator</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Faceți clic pentru a edita stilul de subtitlu coordonator</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4474814-C103-4EB5-B444-1D6CD3B262CF}" type="datetimeFigureOut">
              <a:rPr lang="ro-RO" smtClean="0"/>
              <a:t>14.11.2025</a:t>
            </a:fld>
            <a:endParaRPr lang="ro-RO"/>
          </a:p>
        </p:txBody>
      </p:sp>
      <p:sp>
        <p:nvSpPr>
          <p:cNvPr id="5" name="Footer Placeholder 4"/>
          <p:cNvSpPr>
            <a:spLocks noGrp="1"/>
          </p:cNvSpPr>
          <p:nvPr>
            <p:ph type="ftr" sz="quarter" idx="11"/>
          </p:nvPr>
        </p:nvSpPr>
        <p:spPr>
          <a:xfrm>
            <a:off x="1876424" y="5410201"/>
            <a:ext cx="5124886" cy="365125"/>
          </a:xfrm>
        </p:spPr>
        <p:txBody>
          <a:bodyPr/>
          <a:lstStyle/>
          <a:p>
            <a:endParaRPr lang="ro-RO"/>
          </a:p>
        </p:txBody>
      </p:sp>
      <p:sp>
        <p:nvSpPr>
          <p:cNvPr id="6" name="Slide Number Placeholder 5"/>
          <p:cNvSpPr>
            <a:spLocks noGrp="1"/>
          </p:cNvSpPr>
          <p:nvPr>
            <p:ph type="sldNum" sz="quarter" idx="12"/>
          </p:nvPr>
        </p:nvSpPr>
        <p:spPr>
          <a:xfrm>
            <a:off x="9896911" y="5410199"/>
            <a:ext cx="771089" cy="365125"/>
          </a:xfrm>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4232217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a:t>Faceți clic pentru a edita stilul de titlu coordonator</a:t>
            </a:r>
            <a:endParaRPr lang="en-US" dirty="0"/>
          </a:p>
        </p:txBody>
      </p:sp>
      <p:sp>
        <p:nvSpPr>
          <p:cNvPr id="3" name="Content Placeholder 2"/>
          <p:cNvSpPr>
            <a:spLocks noGrp="1"/>
          </p:cNvSpPr>
          <p:nvPr>
            <p:ph idx="1"/>
          </p:nvPr>
        </p:nvSpPr>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4" name="Date Placeholder 3"/>
          <p:cNvSpPr>
            <a:spLocks noGrp="1"/>
          </p:cNvSpPr>
          <p:nvPr>
            <p:ph type="dt" sz="half" idx="10"/>
          </p:nvPr>
        </p:nvSpPr>
        <p:spPr/>
        <p:txBody>
          <a:bodyPr/>
          <a:lstStyle/>
          <a:p>
            <a:fld id="{54474814-C103-4EB5-B444-1D6CD3B262CF}" type="datetimeFigureOut">
              <a:rPr lang="ro-RO" smtClean="0"/>
              <a:t>14.11.2025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704781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ro-RO"/>
              <a:t>Faceți clic pentru a edita stilul de titlu coordonator</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o-RO"/>
              <a:t>Faceţi clic pentru a edita Master stiluri text</a:t>
            </a:r>
          </a:p>
        </p:txBody>
      </p:sp>
      <p:sp>
        <p:nvSpPr>
          <p:cNvPr id="4" name="Date Placeholder 3"/>
          <p:cNvSpPr>
            <a:spLocks noGrp="1"/>
          </p:cNvSpPr>
          <p:nvPr>
            <p:ph type="dt" sz="half" idx="10"/>
          </p:nvPr>
        </p:nvSpPr>
        <p:spPr/>
        <p:txBody>
          <a:bodyPr/>
          <a:lstStyle/>
          <a:p>
            <a:fld id="{54474814-C103-4EB5-B444-1D6CD3B262CF}" type="datetimeFigureOut">
              <a:rPr lang="ro-RO" smtClean="0"/>
              <a:t>14.11.2025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373727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a:t>Faceți clic pentru a edita stilul de titlu coordonator</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33141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ro-RO"/>
              <a:t>Faceți clic pentru a edita stilul de titlu coordonator</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4" name="Content Placeholder 3"/>
          <p:cNvSpPr>
            <a:spLocks noGrp="1"/>
          </p:cNvSpPr>
          <p:nvPr>
            <p:ph sz="half" idx="2"/>
          </p:nvPr>
        </p:nvSpPr>
        <p:spPr>
          <a:xfrm>
            <a:off x="1141410" y="3073397"/>
            <a:ext cx="4878391" cy="2717801"/>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6" name="Content Placeholder 5"/>
          <p:cNvSpPr>
            <a:spLocks noGrp="1"/>
          </p:cNvSpPr>
          <p:nvPr>
            <p:ph sz="quarter" idx="4"/>
          </p:nvPr>
        </p:nvSpPr>
        <p:spPr>
          <a:xfrm>
            <a:off x="6172200" y="3073397"/>
            <a:ext cx="4875210" cy="2717801"/>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7" name="Date Placeholder 6"/>
          <p:cNvSpPr>
            <a:spLocks noGrp="1"/>
          </p:cNvSpPr>
          <p:nvPr>
            <p:ph type="dt" sz="half" idx="10"/>
          </p:nvPr>
        </p:nvSpPr>
        <p:spPr/>
        <p:txBody>
          <a:bodyPr/>
          <a:lstStyle/>
          <a:p>
            <a:fld id="{54474814-C103-4EB5-B444-1D6CD3B262CF}" type="datetimeFigureOut">
              <a:rPr lang="ro-RO" smtClean="0"/>
              <a:t>14.11.2025</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299866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a:t>Faceți clic pentru a edita stilul de titlu coordonator</a:t>
            </a:r>
            <a:endParaRPr lang="en-US" dirty="0"/>
          </a:p>
        </p:txBody>
      </p:sp>
      <p:sp>
        <p:nvSpPr>
          <p:cNvPr id="3" name="Date Placeholder 2"/>
          <p:cNvSpPr>
            <a:spLocks noGrp="1"/>
          </p:cNvSpPr>
          <p:nvPr>
            <p:ph type="dt" sz="half" idx="10"/>
          </p:nvPr>
        </p:nvSpPr>
        <p:spPr/>
        <p:txBody>
          <a:bodyPr/>
          <a:lstStyle/>
          <a:p>
            <a:fld id="{54474814-C103-4EB5-B444-1D6CD3B262CF}" type="datetimeFigureOut">
              <a:rPr lang="ro-RO" smtClean="0"/>
              <a:t>14.11.2025</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3762001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474814-C103-4EB5-B444-1D6CD3B262CF}" type="datetimeFigureOut">
              <a:rPr lang="ro-RO" smtClean="0"/>
              <a:t>14.11.2025</a:t>
            </a:fld>
            <a:endParaRPr lang="ro-RO"/>
          </a:p>
        </p:txBody>
      </p:sp>
      <p:sp>
        <p:nvSpPr>
          <p:cNvPr id="3" name="Footer Placeholder 2"/>
          <p:cNvSpPr>
            <a:spLocks noGrp="1"/>
          </p:cNvSpPr>
          <p:nvPr>
            <p:ph type="ftr" sz="quarter" idx="11"/>
          </p:nvPr>
        </p:nvSpPr>
        <p:spPr/>
        <p:txBody>
          <a:bodyPr/>
          <a:lstStyle/>
          <a:p>
            <a:endParaRPr lang="ro-RO"/>
          </a:p>
        </p:txBody>
      </p:sp>
      <p:sp>
        <p:nvSpPr>
          <p:cNvPr id="4" name="Slide Number Placeholder 3"/>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2078922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ro-RO"/>
              <a:t>Faceți clic pentru a edita stilul de titlu coordonator</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2369674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ro-RO"/>
              <a:t>Faceți clic pentru a edita stilul de titlu coordonator</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o-RO"/>
              <a:t>Faceți clic pe pictogramă pentru a adăuga o imagine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3910293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ine panoramică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ro-RO"/>
              <a:t>Faceți clic pentru a edita stilul de titlu coordonator</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ro-RO"/>
              <a:t>Faceți clic pe pictogramă pentru a adăuga o imagine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054215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u și legendă">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ro-RO"/>
              <a:t>Faceți clic pentru a edita stilul de titlu coordonator</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306493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ro-RO"/>
              <a:t>Faceți clic pentru a edita stilul de titlu coordonator</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5786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de vizită">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ro-RO"/>
              <a:t>Faceți clic pentru a edita stilul de titlu coordonator</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Date Placeholder 4"/>
          <p:cNvSpPr>
            <a:spLocks noGrp="1"/>
          </p:cNvSpPr>
          <p:nvPr>
            <p:ph type="dt" sz="half" idx="10"/>
          </p:nvPr>
        </p:nvSpPr>
        <p:spPr/>
        <p:txBody>
          <a:bodyPr/>
          <a:lstStyle/>
          <a:p>
            <a:fld id="{54474814-C103-4EB5-B444-1D6CD3B262CF}" type="datetimeFigureOut">
              <a:rPr lang="ro-RO" smtClean="0"/>
              <a:t>14.11.2025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309509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a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ro-RO"/>
              <a:t>Faceți clic pentru a edita stilul de titlu coordonator</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Faceţi clic pentru a edita Master stiluri text</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Faceţi clic pentru a edita Master stiluri text</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Faceţi clic pentru a edita Master stiluri text</a:t>
            </a:r>
          </a:p>
        </p:txBody>
      </p:sp>
      <p:sp>
        <p:nvSpPr>
          <p:cNvPr id="3" name="Date Placeholder 2"/>
          <p:cNvSpPr>
            <a:spLocks noGrp="1"/>
          </p:cNvSpPr>
          <p:nvPr>
            <p:ph type="dt" sz="half" idx="10"/>
          </p:nvPr>
        </p:nvSpPr>
        <p:spPr/>
        <p:txBody>
          <a:bodyPr/>
          <a:lstStyle/>
          <a:p>
            <a:fld id="{54474814-C103-4EB5-B444-1D6CD3B262CF}" type="datetimeFigureOut">
              <a:rPr lang="ro-RO" smtClean="0"/>
              <a:t>14.11.2025</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019357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oană cu trei imagini">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ro-RO"/>
              <a:t>Faceți clic pentru a edita stilul de titlu coordonator</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o-RO"/>
              <a:t>Faceți clic pe pictogramă pentru a adăuga o imagine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Faceţi clic pentru a edita Master stiluri text</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o-RO"/>
              <a:t>Faceți clic pe pictogramă pentru a adăuga o imagine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Faceţi clic pentru a edita Master stiluri text</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o-RO"/>
              <a:t>Faceți clic pe pictogramă pentru a adăuga o imagine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a:t>Faceţi clic pentru a edita Master stiluri text</a:t>
            </a:r>
          </a:p>
        </p:txBody>
      </p:sp>
      <p:sp>
        <p:nvSpPr>
          <p:cNvPr id="3" name="Date Placeholder 2"/>
          <p:cNvSpPr>
            <a:spLocks noGrp="1"/>
          </p:cNvSpPr>
          <p:nvPr>
            <p:ph type="dt" sz="half" idx="10"/>
          </p:nvPr>
        </p:nvSpPr>
        <p:spPr/>
        <p:txBody>
          <a:bodyPr/>
          <a:lstStyle/>
          <a:p>
            <a:fld id="{54474814-C103-4EB5-B444-1D6CD3B262CF}" type="datetimeFigureOut">
              <a:rPr lang="ro-RO" smtClean="0"/>
              <a:t>14.11.2025</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1932874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a:t>Faceți clic pentru a edita stilul de titlu coordonator</a:t>
            </a:r>
            <a:endParaRPr lang="en-US" dirty="0"/>
          </a:p>
        </p:txBody>
      </p:sp>
      <p:sp>
        <p:nvSpPr>
          <p:cNvPr id="3" name="Vertical Text Placeholder 2"/>
          <p:cNvSpPr>
            <a:spLocks noGrp="1"/>
          </p:cNvSpPr>
          <p:nvPr>
            <p:ph type="body" orient="vert" idx="1"/>
          </p:nvPr>
        </p:nvSpPr>
        <p:spPr/>
        <p:txBody>
          <a:bodyPr vert="eaVert" ancho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4" name="Date Placeholder 3"/>
          <p:cNvSpPr>
            <a:spLocks noGrp="1"/>
          </p:cNvSpPr>
          <p:nvPr>
            <p:ph type="dt" sz="half" idx="10"/>
          </p:nvPr>
        </p:nvSpPr>
        <p:spPr/>
        <p:txBody>
          <a:bodyPr/>
          <a:lstStyle/>
          <a:p>
            <a:fld id="{54474814-C103-4EB5-B444-1D6CD3B262CF}" type="datetimeFigureOut">
              <a:rPr lang="ro-RO" smtClean="0"/>
              <a:t>14.11.2025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2087045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ro-RO"/>
              <a:t>Faceți clic pentru a edita stilul de titlu coordonator</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4" name="Date Placeholder 3"/>
          <p:cNvSpPr>
            <a:spLocks noGrp="1"/>
          </p:cNvSpPr>
          <p:nvPr>
            <p:ph type="dt" sz="half" idx="10"/>
          </p:nvPr>
        </p:nvSpPr>
        <p:spPr/>
        <p:txBody>
          <a:bodyPr/>
          <a:lstStyle/>
          <a:p>
            <a:fld id="{54474814-C103-4EB5-B444-1D6CD3B262CF}" type="datetimeFigureOut">
              <a:rPr lang="ro-RO" smtClean="0"/>
              <a:t>14.11.2025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29B7EBF0-2519-4069-A63A-E6EF63F25E66}" type="slidenum">
              <a:rPr lang="ro-RO" smtClean="0"/>
              <a:t>‹#›</a:t>
            </a:fld>
            <a:endParaRPr lang="ro-RO"/>
          </a:p>
        </p:txBody>
      </p:sp>
    </p:spTree>
    <p:extLst>
      <p:ext uri="{BB962C8B-B14F-4D97-AF65-F5344CB8AC3E}">
        <p14:creationId xmlns:p14="http://schemas.microsoft.com/office/powerpoint/2010/main" val="3026819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ro-RO"/>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ro-RO"/>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ro-RO"/>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4474814-C103-4EB5-B444-1D6CD3B262CF}" type="datetimeFigureOut">
              <a:rPr lang="ro-RO" smtClean="0"/>
              <a:t>14.11.2025</a:t>
            </a:fld>
            <a:endParaRPr lang="ro-RO"/>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ro-RO"/>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9B7EBF0-2519-4069-A63A-E6EF63F25E66}" type="slidenum">
              <a:rPr lang="ro-RO" smtClean="0"/>
              <a:t>‹#›</a:t>
            </a:fld>
            <a:endParaRPr lang="ro-RO"/>
          </a:p>
        </p:txBody>
      </p:sp>
    </p:spTree>
    <p:extLst>
      <p:ext uri="{BB962C8B-B14F-4D97-AF65-F5344CB8AC3E}">
        <p14:creationId xmlns:p14="http://schemas.microsoft.com/office/powerpoint/2010/main" val="188870129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healthline.com/find-care/articles/dermatologists/what-is-a-dermatologist"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7.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drleventercentre.com/wp-content/uploads/2025/01/psoriazis-in-placi-1.jp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reginamaria.ro/sites/default/files/2025-06/dermatita%20seboreica%20diagnostic.p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dermcarecharlotte.com/medical-dermatology/pityriasis-rose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casereports.bmj.com/content/2018/bcr-2017-224007"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researchgate.net/publication/317613284_An_Empirical_Study_of_Applying_Artificial_Neural_Network_for_Classification_of_Dermatology_Disease" TargetMode="External"/><Relationship Id="rId2" Type="http://schemas.openxmlformats.org/officeDocument/2006/relationships/hyperlink" Target="https://archive.ics.uci.edu/dataset/33/dermatology" TargetMode="External"/><Relationship Id="rId1" Type="http://schemas.openxmlformats.org/officeDocument/2006/relationships/slideLayout" Target="../slideLayouts/slideLayout2.xml"/><Relationship Id="rId5" Type="http://schemas.openxmlformats.org/officeDocument/2006/relationships/hyperlink" Target="https://pubmed.ncbi.nlm.nih.gov/22296226/" TargetMode="External"/><Relationship Id="rId4" Type="http://schemas.openxmlformats.org/officeDocument/2006/relationships/hyperlink" Target="https://rmj.com.ro/articles/2024.2/RMJ_2024_2_Art-05.pdf"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forbes.com/sites/bernardmarr/2024/08/16/where-will-artificial-intelligence-take-us-in-the-future/" TargetMode="Externa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linkedin.com/in/adrian-david-balu-10880a2a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12D071B-059C-E67F-B740-4C02E3B1FFCF}"/>
              </a:ext>
            </a:extLst>
          </p:cNvPr>
          <p:cNvSpPr>
            <a:spLocks noGrp="1"/>
          </p:cNvSpPr>
          <p:nvPr>
            <p:ph type="ctrTitle"/>
          </p:nvPr>
        </p:nvSpPr>
        <p:spPr/>
        <p:txBody>
          <a:bodyPr>
            <a:normAutofit fontScale="90000"/>
          </a:bodyPr>
          <a:lstStyle/>
          <a:p>
            <a:pPr algn="ctr"/>
            <a:r>
              <a:rPr lang="ro-RO" dirty="0"/>
              <a:t>Optimizarea Diagnosticului Diferențial în Dermatologie </a:t>
            </a:r>
            <a:r>
              <a:rPr lang="ro-RO" dirty="0">
                <a:solidFill>
                  <a:schemeClr val="accent3">
                    <a:lumMod val="75000"/>
                  </a:schemeClr>
                </a:solidFill>
              </a:rPr>
              <a:t>utilizând un Model de Clasificare prin Deep Learning</a:t>
            </a:r>
          </a:p>
        </p:txBody>
      </p:sp>
      <p:sp>
        <p:nvSpPr>
          <p:cNvPr id="3" name="Subtitlu 2">
            <a:extLst>
              <a:ext uri="{FF2B5EF4-FFF2-40B4-BE49-F238E27FC236}">
                <a16:creationId xmlns:a16="http://schemas.microsoft.com/office/drawing/2014/main" id="{670F1F63-9CCE-AD3E-B2A8-4D11288BB2E6}"/>
              </a:ext>
            </a:extLst>
          </p:cNvPr>
          <p:cNvSpPr>
            <a:spLocks noGrp="1"/>
          </p:cNvSpPr>
          <p:nvPr>
            <p:ph type="subTitle" idx="1"/>
          </p:nvPr>
        </p:nvSpPr>
        <p:spPr/>
        <p:txBody>
          <a:bodyPr/>
          <a:lstStyle/>
          <a:p>
            <a:pPr algn="r"/>
            <a:r>
              <a:rPr lang="ro-RO" dirty="0"/>
              <a:t>De Balu Adrian-David</a:t>
            </a:r>
          </a:p>
          <a:p>
            <a:pPr algn="r"/>
            <a:r>
              <a:rPr lang="ro-RO" dirty="0"/>
              <a:t>FIIR-SIA-II-632AB-sg.1</a:t>
            </a:r>
          </a:p>
        </p:txBody>
      </p:sp>
    </p:spTree>
    <p:extLst>
      <p:ext uri="{BB962C8B-B14F-4D97-AF65-F5344CB8AC3E}">
        <p14:creationId xmlns:p14="http://schemas.microsoft.com/office/powerpoint/2010/main" val="4159116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D5AD4F38-C014-2268-48EB-D7279BDCCFF2}"/>
              </a:ext>
            </a:extLst>
          </p:cNvPr>
          <p:cNvSpPr>
            <a:spLocks noGrp="1"/>
          </p:cNvSpPr>
          <p:nvPr>
            <p:ph type="title"/>
          </p:nvPr>
        </p:nvSpPr>
        <p:spPr/>
        <p:txBody>
          <a:bodyPr/>
          <a:lstStyle/>
          <a:p>
            <a:r>
              <a:rPr lang="ro-RO" dirty="0"/>
              <a:t>1. DESCRIERE NEVOIE</a:t>
            </a:r>
          </a:p>
        </p:txBody>
      </p:sp>
      <p:pic>
        <p:nvPicPr>
          <p:cNvPr id="1026" name="Picture 2" descr="What is a Dermatologist? What They Do, Conditions Treated, Procedures">
            <a:hlinkClick r:id="rId2"/>
            <a:extLst>
              <a:ext uri="{FF2B5EF4-FFF2-40B4-BE49-F238E27FC236}">
                <a16:creationId xmlns:a16="http://schemas.microsoft.com/office/drawing/2014/main" id="{82ED730D-36A3-D7EC-114D-03E220A8A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017" y="1670762"/>
            <a:ext cx="8371706" cy="4696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351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E260A77-C223-5346-5316-66A12B6AD930}"/>
              </a:ext>
            </a:extLst>
          </p:cNvPr>
          <p:cNvSpPr>
            <a:spLocks noGrp="1"/>
          </p:cNvSpPr>
          <p:nvPr>
            <p:ph type="title"/>
          </p:nvPr>
        </p:nvSpPr>
        <p:spPr/>
        <p:txBody>
          <a:bodyPr/>
          <a:lstStyle/>
          <a:p>
            <a:r>
              <a:rPr lang="ro-RO" dirty="0"/>
              <a:t>Descriere idee generală proiect</a:t>
            </a:r>
          </a:p>
        </p:txBody>
      </p:sp>
      <p:sp>
        <p:nvSpPr>
          <p:cNvPr id="3" name="Substituent conținut 2">
            <a:extLst>
              <a:ext uri="{FF2B5EF4-FFF2-40B4-BE49-F238E27FC236}">
                <a16:creationId xmlns:a16="http://schemas.microsoft.com/office/drawing/2014/main" id="{532DCA75-7B6F-E0DD-F15D-CC21500893BF}"/>
              </a:ext>
            </a:extLst>
          </p:cNvPr>
          <p:cNvSpPr>
            <a:spLocks noGrp="1"/>
          </p:cNvSpPr>
          <p:nvPr>
            <p:ph idx="1"/>
          </p:nvPr>
        </p:nvSpPr>
        <p:spPr/>
        <p:txBody>
          <a:bodyPr>
            <a:normAutofit fontScale="92500" lnSpcReduction="20000"/>
          </a:bodyPr>
          <a:lstStyle/>
          <a:p>
            <a:r>
              <a:rPr lang="ro-RO" dirty="0">
                <a:latin typeface="Calibri" panose="020F0502020204030204" pitchFamily="34" charset="0"/>
                <a:ea typeface="Calibri" panose="020F0502020204030204" pitchFamily="34" charset="0"/>
                <a:cs typeface="Calibri" panose="020F0502020204030204" pitchFamily="34" charset="0"/>
              </a:rPr>
              <a:t>Idee: Dezvoltarea unui Sistem cu Inteligență Artificială (SIA) bazat pe Rețele Neuronale pentru a asista în diagnosticul diferențial al bolilor cutanate </a:t>
            </a:r>
            <a:r>
              <a:rPr lang="ro-RO" dirty="0" err="1">
                <a:latin typeface="Calibri" panose="020F0502020204030204" pitchFamily="34" charset="0"/>
                <a:ea typeface="Calibri" panose="020F0502020204030204" pitchFamily="34" charset="0"/>
                <a:cs typeface="Calibri" panose="020F0502020204030204" pitchFamily="34" charset="0"/>
              </a:rPr>
              <a:t>eritremato-scuamoase</a:t>
            </a:r>
            <a:r>
              <a:rPr lang="ro-RO" dirty="0">
                <a:latin typeface="Calibri" panose="020F0502020204030204" pitchFamily="34" charset="0"/>
                <a:ea typeface="Calibri" panose="020F0502020204030204" pitchFamily="34" charset="0"/>
                <a:cs typeface="Calibri" panose="020F0502020204030204" pitchFamily="34" charset="0"/>
              </a:rPr>
              <a:t>.</a:t>
            </a:r>
          </a:p>
          <a:p>
            <a:r>
              <a:rPr lang="ro-RO" dirty="0">
                <a:latin typeface="Calibri" panose="020F0502020204030204" pitchFamily="34" charset="0"/>
                <a:ea typeface="Calibri" panose="020F0502020204030204" pitchFamily="34" charset="0"/>
                <a:cs typeface="Calibri" panose="020F0502020204030204" pitchFamily="34" charset="0"/>
              </a:rPr>
              <a:t>Obiectiv: Crearea unui prototip executabil care primește ca input simptome clinice și oferă o clasificare Top-3 a posibilelor diagnostice (cele 6 boli din setul UCI), împreună cu recomandări de acțiune.</a:t>
            </a:r>
          </a:p>
          <a:p>
            <a:r>
              <a:rPr lang="ro-RO" dirty="0">
                <a:latin typeface="Calibri" panose="020F0502020204030204" pitchFamily="34" charset="0"/>
                <a:ea typeface="Calibri" panose="020F0502020204030204" pitchFamily="34" charset="0"/>
                <a:cs typeface="Calibri" panose="020F0502020204030204" pitchFamily="34" charset="0"/>
              </a:rPr>
              <a:t>Context RN: Utilizarea Rețelelor Neuronale </a:t>
            </a:r>
            <a:r>
              <a:rPr lang="ro-RO" dirty="0" err="1">
                <a:latin typeface="Calibri" panose="020F0502020204030204" pitchFamily="34" charset="0"/>
                <a:ea typeface="Calibri" panose="020F0502020204030204" pitchFamily="34" charset="0"/>
                <a:cs typeface="Calibri" panose="020F0502020204030204" pitchFamily="34" charset="0"/>
              </a:rPr>
              <a:t>Multilayer</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Perceptron</a:t>
            </a:r>
            <a:r>
              <a:rPr lang="ro-RO" dirty="0">
                <a:latin typeface="Calibri" panose="020F0502020204030204" pitchFamily="34" charset="0"/>
                <a:ea typeface="Calibri" panose="020F0502020204030204" pitchFamily="34" charset="0"/>
                <a:cs typeface="Calibri" panose="020F0502020204030204" pitchFamily="34" charset="0"/>
              </a:rPr>
              <a:t> (MLP) sau a altor clasificatori Deep Learning pentru a extrage pattern-uri complexe din combinațiile de simptome.</a:t>
            </a:r>
          </a:p>
        </p:txBody>
      </p:sp>
    </p:spTree>
    <p:extLst>
      <p:ext uri="{BB962C8B-B14F-4D97-AF65-F5344CB8AC3E}">
        <p14:creationId xmlns:p14="http://schemas.microsoft.com/office/powerpoint/2010/main" val="1757587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F5643B07-39E3-2C81-01A6-DD70EA8E1E0A}"/>
              </a:ext>
            </a:extLst>
          </p:cNvPr>
          <p:cNvSpPr>
            <a:spLocks noGrp="1"/>
          </p:cNvSpPr>
          <p:nvPr>
            <p:ph type="title"/>
          </p:nvPr>
        </p:nvSpPr>
        <p:spPr/>
        <p:txBody>
          <a:bodyPr/>
          <a:lstStyle/>
          <a:p>
            <a:r>
              <a:rPr lang="ro-RO" dirty="0"/>
              <a:t>DOMENIUL INDUSTRIAL DE INTERES (dii)</a:t>
            </a:r>
          </a:p>
        </p:txBody>
      </p:sp>
      <p:sp>
        <p:nvSpPr>
          <p:cNvPr id="3" name="Substituent conținut 2">
            <a:extLst>
              <a:ext uri="{FF2B5EF4-FFF2-40B4-BE49-F238E27FC236}">
                <a16:creationId xmlns:a16="http://schemas.microsoft.com/office/drawing/2014/main" id="{F7C94205-4923-1F44-1C03-61F2D5A4BCD2}"/>
              </a:ext>
            </a:extLst>
          </p:cNvPr>
          <p:cNvSpPr>
            <a:spLocks noGrp="1"/>
          </p:cNvSpPr>
          <p:nvPr>
            <p:ph idx="1"/>
          </p:nvPr>
        </p:nvSpPr>
        <p:spPr/>
        <p:txBody>
          <a:bodyPr>
            <a:normAutofit fontScale="92500" lnSpcReduction="20000"/>
          </a:bodyPr>
          <a:lstStyle/>
          <a:p>
            <a:r>
              <a:rPr lang="ro-RO" dirty="0">
                <a:latin typeface="Calibri" panose="020F0502020204030204" pitchFamily="34" charset="0"/>
                <a:ea typeface="Calibri" panose="020F0502020204030204" pitchFamily="34" charset="0"/>
                <a:cs typeface="Calibri" panose="020F0502020204030204" pitchFamily="34" charset="0"/>
              </a:rPr>
              <a:t>Proiectul este destinat părții de Sănătate Digitală, cu specializare în Dermatologie.</a:t>
            </a:r>
          </a:p>
          <a:p>
            <a:r>
              <a:rPr lang="ro-RO" dirty="0">
                <a:latin typeface="Calibri" panose="020F0502020204030204" pitchFamily="34" charset="0"/>
                <a:ea typeface="Calibri" panose="020F0502020204030204" pitchFamily="34" charset="0"/>
                <a:cs typeface="Calibri" panose="020F0502020204030204" pitchFamily="34" charset="0"/>
              </a:rPr>
              <a:t>Provocarea: Diagnosticul dificil și invaziv (biopsie) al bolilor </a:t>
            </a:r>
            <a:r>
              <a:rPr lang="ro-RO" dirty="0" err="1">
                <a:latin typeface="Calibri" panose="020F0502020204030204" pitchFamily="34" charset="0"/>
                <a:ea typeface="Calibri" panose="020F0502020204030204" pitchFamily="34" charset="0"/>
                <a:cs typeface="Calibri" panose="020F0502020204030204" pitchFamily="34" charset="0"/>
              </a:rPr>
              <a:t>eritremato-scuamoase</a:t>
            </a:r>
            <a:r>
              <a:rPr lang="ro-RO" dirty="0">
                <a:latin typeface="Calibri" panose="020F0502020204030204" pitchFamily="34" charset="0"/>
                <a:ea typeface="Calibri" panose="020F0502020204030204" pitchFamily="34" charset="0"/>
                <a:cs typeface="Calibri" panose="020F0502020204030204" pitchFamily="34" charset="0"/>
              </a:rPr>
              <a:t> din cauza simptomelor suprapuse.</a:t>
            </a:r>
          </a:p>
          <a:p>
            <a:r>
              <a:rPr lang="ro-RO" dirty="0">
                <a:latin typeface="Calibri" panose="020F0502020204030204" pitchFamily="34" charset="0"/>
                <a:ea typeface="Calibri" panose="020F0502020204030204" pitchFamily="34" charset="0"/>
                <a:cs typeface="Calibri" panose="020F0502020204030204" pitchFamily="34" charset="0"/>
              </a:rPr>
              <a:t>Obiectivul AI: Dezvoltarea unui Sistem de triere și Suport Decizional (SIA).</a:t>
            </a:r>
          </a:p>
          <a:p>
            <a:r>
              <a:rPr lang="ro-RO" dirty="0">
                <a:latin typeface="Calibri" panose="020F0502020204030204" pitchFamily="34" charset="0"/>
                <a:ea typeface="Calibri" panose="020F0502020204030204" pitchFamily="34" charset="0"/>
                <a:cs typeface="Calibri" panose="020F0502020204030204" pitchFamily="34" charset="0"/>
              </a:rPr>
              <a:t>Metoda: Clasificare rapidă cu Rețele Neuronale pe baza datelor clinice (Setul UCI </a:t>
            </a:r>
            <a:r>
              <a:rPr lang="ro-RO" dirty="0" err="1">
                <a:latin typeface="Calibri" panose="020F0502020204030204" pitchFamily="34" charset="0"/>
                <a:ea typeface="Calibri" panose="020F0502020204030204" pitchFamily="34" charset="0"/>
                <a:cs typeface="Calibri" panose="020F0502020204030204" pitchFamily="34" charset="0"/>
              </a:rPr>
              <a:t>Dermatology</a:t>
            </a:r>
            <a:r>
              <a:rPr lang="ro-RO" dirty="0">
                <a:latin typeface="Calibri" panose="020F0502020204030204" pitchFamily="34" charset="0"/>
                <a:ea typeface="Calibri" panose="020F0502020204030204" pitchFamily="34" charset="0"/>
                <a:cs typeface="Calibri" panose="020F0502020204030204" pitchFamily="34" charset="0"/>
              </a:rPr>
              <a:t>).</a:t>
            </a:r>
          </a:p>
          <a:p>
            <a:r>
              <a:rPr lang="ro-RO" dirty="0">
                <a:latin typeface="Calibri" panose="020F0502020204030204" pitchFamily="34" charset="0"/>
                <a:ea typeface="Calibri" panose="020F0502020204030204" pitchFamily="34" charset="0"/>
                <a:cs typeface="Calibri" panose="020F0502020204030204" pitchFamily="34" charset="0"/>
              </a:rPr>
              <a:t>Eficiență: Pre-clasificare rapidă (</a:t>
            </a:r>
            <a:r>
              <a:rPr lang="ro-RO" dirty="0" err="1">
                <a:latin typeface="Calibri" panose="020F0502020204030204" pitchFamily="34" charset="0"/>
                <a:ea typeface="Calibri" panose="020F0502020204030204" pitchFamily="34" charset="0"/>
                <a:cs typeface="Calibri" panose="020F0502020204030204" pitchFamily="34" charset="0"/>
              </a:rPr>
              <a:t>Triage</a:t>
            </a:r>
            <a:r>
              <a:rPr lang="ro-RO" dirty="0">
                <a:latin typeface="Calibri" panose="020F0502020204030204" pitchFamily="34" charset="0"/>
                <a:ea typeface="Calibri" panose="020F0502020204030204" pitchFamily="34" charset="0"/>
                <a:cs typeface="Calibri" panose="020F0502020204030204" pitchFamily="34" charset="0"/>
              </a:rPr>
              <a:t>) și reducerea timpului de diagnostic.</a:t>
            </a:r>
          </a:p>
          <a:p>
            <a:r>
              <a:rPr lang="ro-RO" dirty="0">
                <a:latin typeface="Calibri" panose="020F0502020204030204" pitchFamily="34" charset="0"/>
                <a:ea typeface="Calibri" panose="020F0502020204030204" pitchFamily="34" charset="0"/>
                <a:cs typeface="Calibri" panose="020F0502020204030204" pitchFamily="34" charset="0"/>
              </a:rPr>
              <a:t>Sănătate Publică: Funcție de alertă pentru focare ("Epidemii actuale").</a:t>
            </a:r>
          </a:p>
        </p:txBody>
      </p:sp>
    </p:spTree>
    <p:extLst>
      <p:ext uri="{BB962C8B-B14F-4D97-AF65-F5344CB8AC3E}">
        <p14:creationId xmlns:p14="http://schemas.microsoft.com/office/powerpoint/2010/main" val="273759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7417A0B-5D36-ED62-0CDE-9F016DD61071}"/>
              </a:ext>
            </a:extLst>
          </p:cNvPr>
          <p:cNvSpPr>
            <a:spLocks noGrp="1"/>
          </p:cNvSpPr>
          <p:nvPr>
            <p:ph type="title"/>
          </p:nvPr>
        </p:nvSpPr>
        <p:spPr/>
        <p:txBody>
          <a:bodyPr/>
          <a:lstStyle/>
          <a:p>
            <a:r>
              <a:rPr lang="ro-RO" dirty="0"/>
              <a:t>CE ESTE UCI DERMATOLOGY DATASET?</a:t>
            </a:r>
          </a:p>
        </p:txBody>
      </p:sp>
      <p:sp>
        <p:nvSpPr>
          <p:cNvPr id="3" name="Substituent conținut 2">
            <a:extLst>
              <a:ext uri="{FF2B5EF4-FFF2-40B4-BE49-F238E27FC236}">
                <a16:creationId xmlns:a16="http://schemas.microsoft.com/office/drawing/2014/main" id="{BA8C14BE-2CCA-F454-B9E6-8EB98A2F3EE7}"/>
              </a:ext>
            </a:extLst>
          </p:cNvPr>
          <p:cNvSpPr>
            <a:spLocks noGrp="1"/>
          </p:cNvSpPr>
          <p:nvPr>
            <p:ph idx="1"/>
          </p:nvPr>
        </p:nvSpPr>
        <p:spPr>
          <a:xfrm>
            <a:off x="884738" y="1690227"/>
            <a:ext cx="7168399" cy="4822868"/>
          </a:xfrm>
        </p:spPr>
        <p:txBody>
          <a:bodyPr>
            <a:normAutofit lnSpcReduction="10000"/>
          </a:bodyPr>
          <a:lstStyle/>
          <a:p>
            <a:r>
              <a:rPr lang="ro-RO" dirty="0"/>
              <a:t>Setul de date a fost creat pentru a facilita </a:t>
            </a:r>
            <a:r>
              <a:rPr lang="ro-RO" b="1" dirty="0"/>
              <a:t>diagnosticul diferențial</a:t>
            </a:r>
            <a:r>
              <a:rPr lang="ro-RO" dirty="0"/>
              <a:t> al unui grup de șase </a:t>
            </a:r>
            <a:r>
              <a:rPr lang="ro-RO" b="1" dirty="0"/>
              <a:t>boli </a:t>
            </a:r>
            <a:r>
              <a:rPr lang="ro-RO" b="1" dirty="0" err="1"/>
              <a:t>eritremato-scuamoase</a:t>
            </a:r>
            <a:r>
              <a:rPr lang="ro-RO" dirty="0"/>
              <a:t>, care sunt notoriu dificil de deosebit, deoarece au simptome clinice care se suprapun (roșeață, scuame).</a:t>
            </a:r>
          </a:p>
          <a:p>
            <a:r>
              <a:rPr lang="ro-RO" dirty="0"/>
              <a:t>INPUT RN: Setul de date conține </a:t>
            </a:r>
            <a:r>
              <a:rPr lang="ro-RO" b="1" dirty="0"/>
              <a:t>34 de atribute</a:t>
            </a:r>
            <a:r>
              <a:rPr lang="ro-RO" dirty="0"/>
              <a:t> pentru 366 de cazuri, împărțite în două categorii majore: ATRIBUTE CLINICE (12 atribute de bază, cele completate de utilizator) și ATRIBUTE HISTOPATOLOGICE (alte 22 de atribute obținute printr-o biopsie cutanată)</a:t>
            </a:r>
          </a:p>
        </p:txBody>
      </p:sp>
      <p:sp>
        <p:nvSpPr>
          <p:cNvPr id="4" name="Substituent conținut 2">
            <a:extLst>
              <a:ext uri="{FF2B5EF4-FFF2-40B4-BE49-F238E27FC236}">
                <a16:creationId xmlns:a16="http://schemas.microsoft.com/office/drawing/2014/main" id="{1E022A28-C51F-EE51-7475-213C3AF14837}"/>
              </a:ext>
            </a:extLst>
          </p:cNvPr>
          <p:cNvSpPr txBox="1">
            <a:spLocks/>
          </p:cNvSpPr>
          <p:nvPr/>
        </p:nvSpPr>
        <p:spPr>
          <a:xfrm>
            <a:off x="8053137" y="1690227"/>
            <a:ext cx="4010526" cy="482286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ro-RO" dirty="0"/>
              <a:t>Acestea sunt cele șase afecțiuni dermatologice (OUTPUTUL):</a:t>
            </a:r>
          </a:p>
          <a:p>
            <a:r>
              <a:rPr lang="ro-RO" b="1" dirty="0"/>
              <a:t>Psoriazis</a:t>
            </a:r>
            <a:r>
              <a:rPr lang="ro-RO" dirty="0"/>
              <a:t> (</a:t>
            </a:r>
            <a:r>
              <a:rPr lang="ro-RO" dirty="0" err="1"/>
              <a:t>Psoriasis</a:t>
            </a:r>
            <a:r>
              <a:rPr lang="ro-RO" dirty="0"/>
              <a:t>)</a:t>
            </a:r>
          </a:p>
          <a:p>
            <a:r>
              <a:rPr lang="ro-RO" b="1" dirty="0"/>
              <a:t>Dermatită seboreică</a:t>
            </a:r>
            <a:r>
              <a:rPr lang="ro-RO" dirty="0"/>
              <a:t> (Seboreic </a:t>
            </a:r>
            <a:r>
              <a:rPr lang="ro-RO" dirty="0" err="1"/>
              <a:t>Dermatitis</a:t>
            </a:r>
            <a:r>
              <a:rPr lang="ro-RO" dirty="0"/>
              <a:t>)</a:t>
            </a:r>
          </a:p>
          <a:p>
            <a:r>
              <a:rPr lang="ro-RO" b="1" dirty="0"/>
              <a:t>Lichen plan</a:t>
            </a:r>
            <a:r>
              <a:rPr lang="ro-RO" dirty="0"/>
              <a:t> (Lichen </a:t>
            </a:r>
            <a:r>
              <a:rPr lang="ro-RO" dirty="0" err="1"/>
              <a:t>Planus</a:t>
            </a:r>
            <a:r>
              <a:rPr lang="ro-RO" dirty="0"/>
              <a:t>)</a:t>
            </a:r>
          </a:p>
          <a:p>
            <a:r>
              <a:rPr lang="ro-RO" b="1" dirty="0" err="1"/>
              <a:t>Pityriasis</a:t>
            </a:r>
            <a:r>
              <a:rPr lang="ro-RO" b="1" dirty="0"/>
              <a:t> </a:t>
            </a:r>
            <a:r>
              <a:rPr lang="ro-RO" b="1" dirty="0" err="1"/>
              <a:t>rosea</a:t>
            </a:r>
            <a:r>
              <a:rPr lang="ro-RO" dirty="0"/>
              <a:t> (</a:t>
            </a:r>
            <a:r>
              <a:rPr lang="ro-RO" dirty="0" err="1"/>
              <a:t>Pityriasis</a:t>
            </a:r>
            <a:r>
              <a:rPr lang="ro-RO" dirty="0"/>
              <a:t> </a:t>
            </a:r>
            <a:r>
              <a:rPr lang="ro-RO" dirty="0" err="1"/>
              <a:t>Rosea</a:t>
            </a:r>
            <a:r>
              <a:rPr lang="ro-RO" dirty="0"/>
              <a:t>)</a:t>
            </a:r>
          </a:p>
          <a:p>
            <a:r>
              <a:rPr lang="ro-RO" b="1" dirty="0"/>
              <a:t>Dermatită cronică</a:t>
            </a:r>
            <a:r>
              <a:rPr lang="ro-RO" dirty="0"/>
              <a:t> (</a:t>
            </a:r>
            <a:r>
              <a:rPr lang="ro-RO" dirty="0" err="1"/>
              <a:t>Chronic</a:t>
            </a:r>
            <a:r>
              <a:rPr lang="ro-RO" dirty="0"/>
              <a:t> </a:t>
            </a:r>
            <a:r>
              <a:rPr lang="ro-RO" dirty="0" err="1"/>
              <a:t>Dermatitis</a:t>
            </a:r>
            <a:r>
              <a:rPr lang="ro-RO" dirty="0"/>
              <a:t>)</a:t>
            </a:r>
          </a:p>
          <a:p>
            <a:r>
              <a:rPr lang="ro-RO" b="1" dirty="0" err="1"/>
              <a:t>Pityriasis</a:t>
            </a:r>
            <a:r>
              <a:rPr lang="ro-RO" b="1" dirty="0"/>
              <a:t> </a:t>
            </a:r>
            <a:r>
              <a:rPr lang="ro-RO" b="1" dirty="0" err="1"/>
              <a:t>rubra</a:t>
            </a:r>
            <a:r>
              <a:rPr lang="ro-RO" b="1" dirty="0"/>
              <a:t> </a:t>
            </a:r>
            <a:r>
              <a:rPr lang="ro-RO" b="1" dirty="0" err="1"/>
              <a:t>pilaris</a:t>
            </a:r>
            <a:r>
              <a:rPr lang="ro-RO" dirty="0"/>
              <a:t> (</a:t>
            </a:r>
            <a:r>
              <a:rPr lang="ro-RO" dirty="0" err="1"/>
              <a:t>Pityriasis</a:t>
            </a:r>
            <a:r>
              <a:rPr lang="ro-RO" dirty="0"/>
              <a:t> </a:t>
            </a:r>
            <a:r>
              <a:rPr lang="ro-RO" dirty="0" err="1"/>
              <a:t>Rubra</a:t>
            </a:r>
            <a:r>
              <a:rPr lang="ro-RO" dirty="0"/>
              <a:t> </a:t>
            </a:r>
            <a:r>
              <a:rPr lang="ro-RO" dirty="0" err="1"/>
              <a:t>Pilaris</a:t>
            </a:r>
            <a:r>
              <a:rPr lang="ro-RO" dirty="0"/>
              <a:t>)</a:t>
            </a:r>
          </a:p>
          <a:p>
            <a:endParaRPr lang="ro-RO" dirty="0"/>
          </a:p>
        </p:txBody>
      </p:sp>
    </p:spTree>
    <p:extLst>
      <p:ext uri="{BB962C8B-B14F-4D97-AF65-F5344CB8AC3E}">
        <p14:creationId xmlns:p14="http://schemas.microsoft.com/office/powerpoint/2010/main" val="3333307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tăText 1">
            <a:extLst>
              <a:ext uri="{FF2B5EF4-FFF2-40B4-BE49-F238E27FC236}">
                <a16:creationId xmlns:a16="http://schemas.microsoft.com/office/drawing/2014/main" id="{7DFD40B7-302A-7936-3DF3-238CB5ABC5A9}"/>
              </a:ext>
            </a:extLst>
          </p:cNvPr>
          <p:cNvSpPr txBox="1"/>
          <p:nvPr/>
        </p:nvSpPr>
        <p:spPr>
          <a:xfrm>
            <a:off x="1798655" y="1420166"/>
            <a:ext cx="9286568" cy="1815882"/>
          </a:xfrm>
          <a:prstGeom prst="rect">
            <a:avLst/>
          </a:prstGeom>
          <a:noFill/>
        </p:spPr>
        <p:txBody>
          <a:bodyPr wrap="square" rtlCol="0">
            <a:spAutoFit/>
          </a:bodyPr>
          <a:lstStyle/>
          <a:p>
            <a:r>
              <a:rPr lang="ro-RO" sz="28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ATENȚIE! POZELE PREZENTATE ÎN PROIECT PREZINTĂ O SERIE DE BOLI DE PIELE PE CARE UNII DINTRE URMĂRITORII PREZENTĂRII LE POT GĂSI NEPLĂCUTE SAU INCONFORTABILE.</a:t>
            </a:r>
          </a:p>
          <a:p>
            <a:r>
              <a:rPr lang="ro-RO" sz="28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CE VARIANTĂ ALEGEȚI?</a:t>
            </a:r>
          </a:p>
        </p:txBody>
      </p:sp>
      <p:sp>
        <p:nvSpPr>
          <p:cNvPr id="3" name="Dreptunghi 2">
            <a:hlinkClick r:id="rId2" action="ppaction://hlinksldjump"/>
            <a:extLst>
              <a:ext uri="{FF2B5EF4-FFF2-40B4-BE49-F238E27FC236}">
                <a16:creationId xmlns:a16="http://schemas.microsoft.com/office/drawing/2014/main" id="{6D2D52BA-6A29-57A0-8690-31E68312F11F}"/>
              </a:ext>
            </a:extLst>
          </p:cNvPr>
          <p:cNvSpPr/>
          <p:nvPr/>
        </p:nvSpPr>
        <p:spPr>
          <a:xfrm>
            <a:off x="3028335" y="3795252"/>
            <a:ext cx="2094271" cy="865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o-RO" dirty="0">
                <a:solidFill>
                  <a:sysClr val="windowText" lastClr="000000"/>
                </a:solidFill>
              </a:rPr>
              <a:t>CU POZE</a:t>
            </a:r>
          </a:p>
        </p:txBody>
      </p:sp>
      <p:sp>
        <p:nvSpPr>
          <p:cNvPr id="4" name="Dreptunghi 3">
            <a:hlinkClick r:id="rId3" action="ppaction://hlinksldjump"/>
            <a:extLst>
              <a:ext uri="{FF2B5EF4-FFF2-40B4-BE49-F238E27FC236}">
                <a16:creationId xmlns:a16="http://schemas.microsoft.com/office/drawing/2014/main" id="{6C0E3F19-E1B6-FED2-3A1C-90C0CA56AA38}"/>
              </a:ext>
            </a:extLst>
          </p:cNvPr>
          <p:cNvSpPr/>
          <p:nvPr/>
        </p:nvSpPr>
        <p:spPr>
          <a:xfrm>
            <a:off x="6818670" y="3795252"/>
            <a:ext cx="2094271" cy="8652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o-RO" dirty="0">
                <a:solidFill>
                  <a:sysClr val="windowText" lastClr="000000"/>
                </a:solidFill>
              </a:rPr>
              <a:t>FĂRĂ POZE</a:t>
            </a:r>
          </a:p>
        </p:txBody>
      </p:sp>
    </p:spTree>
    <p:extLst>
      <p:ext uri="{BB962C8B-B14F-4D97-AF65-F5344CB8AC3E}">
        <p14:creationId xmlns:p14="http://schemas.microsoft.com/office/powerpoint/2010/main" val="406198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6754140-5422-D0E9-5379-E73D35834A6A}"/>
              </a:ext>
            </a:extLst>
          </p:cNvPr>
          <p:cNvSpPr>
            <a:spLocks noGrp="1"/>
          </p:cNvSpPr>
          <p:nvPr>
            <p:ph type="title"/>
          </p:nvPr>
        </p:nvSpPr>
        <p:spPr/>
        <p:txBody>
          <a:bodyPr/>
          <a:lstStyle/>
          <a:p>
            <a:r>
              <a:rPr lang="ro-RO" dirty="0">
                <a:solidFill>
                  <a:srgbClr val="FF0000"/>
                </a:solidFill>
              </a:rPr>
              <a:t>Psoriazis (caz roșu „Mergi la doctor”)</a:t>
            </a:r>
          </a:p>
        </p:txBody>
      </p:sp>
      <p:sp>
        <p:nvSpPr>
          <p:cNvPr id="3" name="Substituent conținut 2">
            <a:extLst>
              <a:ext uri="{FF2B5EF4-FFF2-40B4-BE49-F238E27FC236}">
                <a16:creationId xmlns:a16="http://schemas.microsoft.com/office/drawing/2014/main" id="{8C499159-547D-52D3-69EB-D11ECCCB55B9}"/>
              </a:ext>
            </a:extLst>
          </p:cNvPr>
          <p:cNvSpPr>
            <a:spLocks noGrp="1"/>
          </p:cNvSpPr>
          <p:nvPr>
            <p:ph idx="1"/>
          </p:nvPr>
        </p:nvSpPr>
        <p:spPr>
          <a:xfrm>
            <a:off x="1141413" y="1777538"/>
            <a:ext cx="6242614" cy="4328293"/>
          </a:xfrm>
        </p:spPr>
        <p:txBody>
          <a:bodyPr>
            <a:normAutofit lnSpcReduction="10000"/>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Psoriazisul este o </a:t>
            </a:r>
            <a:r>
              <a:rPr lang="ro-RO" b="1" dirty="0">
                <a:latin typeface="Calibri" panose="020F0502020204030204" pitchFamily="34" charset="0"/>
                <a:ea typeface="Calibri" panose="020F0502020204030204" pitchFamily="34" charset="0"/>
                <a:cs typeface="Calibri" panose="020F0502020204030204" pitchFamily="34" charset="0"/>
              </a:rPr>
              <a:t>boală cronică autoimună</a:t>
            </a:r>
            <a:r>
              <a:rPr lang="ro-RO" dirty="0">
                <a:latin typeface="Calibri" panose="020F0502020204030204" pitchFamily="34" charset="0"/>
                <a:ea typeface="Calibri" panose="020F0502020204030204" pitchFamily="34" charset="0"/>
                <a:cs typeface="Calibri" panose="020F0502020204030204" pitchFamily="34" charset="0"/>
              </a:rPr>
              <a:t> care determină acumularea rapidă a celulelor pielii, ducând la formarea de </a:t>
            </a:r>
            <a:r>
              <a:rPr lang="ro-RO" b="1" dirty="0">
                <a:latin typeface="Calibri" panose="020F0502020204030204" pitchFamily="34" charset="0"/>
                <a:ea typeface="Calibri" panose="020F0502020204030204" pitchFamily="34" charset="0"/>
                <a:cs typeface="Calibri" panose="020F0502020204030204" pitchFamily="34" charset="0"/>
              </a:rPr>
              <a:t>plăci groase, solzoase, roșii, bine delimitate</a:t>
            </a:r>
            <a:r>
              <a:rPr lang="ro-RO" dirty="0">
                <a:latin typeface="Calibri" panose="020F0502020204030204" pitchFamily="34" charset="0"/>
                <a:ea typeface="Calibri" panose="020F0502020204030204" pitchFamily="34" charset="0"/>
                <a:cs typeface="Calibri" panose="020F0502020204030204" pitchFamily="34" charset="0"/>
              </a:rPr>
              <a:t>, adesea însoțite de prurit și durere.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Este o afecțiune cu evoluție ciclică (</a:t>
            </a:r>
            <a:r>
              <a:rPr lang="ro-RO" dirty="0" err="1">
                <a:latin typeface="Calibri" panose="020F0502020204030204" pitchFamily="34" charset="0"/>
                <a:ea typeface="Calibri" panose="020F0502020204030204" pitchFamily="34" charset="0"/>
                <a:cs typeface="Calibri" panose="020F0502020204030204" pitchFamily="34" charset="0"/>
              </a:rPr>
              <a:t>remisii</a:t>
            </a:r>
            <a:r>
              <a:rPr lang="ro-RO" dirty="0">
                <a:latin typeface="Calibri" panose="020F0502020204030204" pitchFamily="34" charset="0"/>
                <a:ea typeface="Calibri" panose="020F0502020204030204" pitchFamily="34" charset="0"/>
                <a:cs typeface="Calibri" panose="020F0502020204030204" pitchFamily="34" charset="0"/>
              </a:rPr>
              <a:t> și puseuri), afectând frecvent coatele, genunchii, scalpul și unghiile. Nu este contagioasă, iar tratamentul vizează controlul simptomelor și încetinirea creșterii celulelor.</a:t>
            </a:r>
          </a:p>
        </p:txBody>
      </p:sp>
      <p:pic>
        <p:nvPicPr>
          <p:cNvPr id="1026" name="Picture 2" descr="Poze cu cele 5 tipuri de psoriazis, pentru a fi mai ușor de recunoscut -  Dr. Leventer Centre">
            <a:hlinkClick r:id="rId2"/>
            <a:extLst>
              <a:ext uri="{FF2B5EF4-FFF2-40B4-BE49-F238E27FC236}">
                <a16:creationId xmlns:a16="http://schemas.microsoft.com/office/drawing/2014/main" id="{4D10515B-4AEA-FFBB-2D34-6B61B22AB8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4027" y="2179074"/>
            <a:ext cx="4444181" cy="2499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874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9333276-7D8C-36EA-BBA4-DC714679E0D9}"/>
              </a:ext>
            </a:extLst>
          </p:cNvPr>
          <p:cNvSpPr>
            <a:spLocks noGrp="1"/>
          </p:cNvSpPr>
          <p:nvPr>
            <p:ph type="title"/>
          </p:nvPr>
        </p:nvSpPr>
        <p:spPr/>
        <p:txBody>
          <a:bodyPr/>
          <a:lstStyle/>
          <a:p>
            <a:r>
              <a:rPr lang="ro-RO" dirty="0">
                <a:solidFill>
                  <a:srgbClr val="FFFF00"/>
                </a:solidFill>
              </a:rPr>
              <a:t>DERMATITĂ SEBOREICĂ (CAZ GALBEN „Medicament/consult opțional”)</a:t>
            </a:r>
          </a:p>
        </p:txBody>
      </p:sp>
      <p:sp>
        <p:nvSpPr>
          <p:cNvPr id="3" name="Substituent conținut 2">
            <a:extLst>
              <a:ext uri="{FF2B5EF4-FFF2-40B4-BE49-F238E27FC236}">
                <a16:creationId xmlns:a16="http://schemas.microsoft.com/office/drawing/2014/main" id="{BA4777B7-EBF5-61CD-3570-387C6FF242C6}"/>
              </a:ext>
            </a:extLst>
          </p:cNvPr>
          <p:cNvSpPr>
            <a:spLocks noGrp="1"/>
          </p:cNvSpPr>
          <p:nvPr>
            <p:ph idx="1"/>
          </p:nvPr>
        </p:nvSpPr>
        <p:spPr>
          <a:xfrm>
            <a:off x="678426" y="1917290"/>
            <a:ext cx="6459793" cy="3873911"/>
          </a:xfrm>
        </p:spPr>
        <p:txBody>
          <a:bodyPr>
            <a:normAutofit fontScale="92500"/>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Dermatita seboreică este o inflamație cronică a pielii care afectează zonele bogate în glande sebacee, precum scalpul, fața (lângă nas, sprâncene) și pieptul.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Se manifestă prin </a:t>
            </a:r>
            <a:r>
              <a:rPr lang="ro-RO" b="1" dirty="0">
                <a:latin typeface="Calibri" panose="020F0502020204030204" pitchFamily="34" charset="0"/>
                <a:ea typeface="Calibri" panose="020F0502020204030204" pitchFamily="34" charset="0"/>
                <a:cs typeface="Calibri" panose="020F0502020204030204" pitchFamily="34" charset="0"/>
              </a:rPr>
              <a:t>roșeață, scuame gălbui și unsuroase</a:t>
            </a:r>
            <a:r>
              <a:rPr lang="ro-RO" dirty="0">
                <a:latin typeface="Calibri" panose="020F0502020204030204" pitchFamily="34" charset="0"/>
                <a:ea typeface="Calibri" panose="020F0502020204030204" pitchFamily="34" charset="0"/>
                <a:cs typeface="Calibri" panose="020F0502020204030204" pitchFamily="34" charset="0"/>
              </a:rPr>
              <a:t> (mătreață la nivelul scalpului) și prurit.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Este legată de prezența unei </a:t>
            </a:r>
            <a:r>
              <a:rPr lang="ro-RO" dirty="0" err="1">
                <a:latin typeface="Calibri" panose="020F0502020204030204" pitchFamily="34" charset="0"/>
                <a:ea typeface="Calibri" panose="020F0502020204030204" pitchFamily="34" charset="0"/>
                <a:cs typeface="Calibri" panose="020F0502020204030204" pitchFamily="34" charset="0"/>
              </a:rPr>
              <a:t>levuri</a:t>
            </a:r>
            <a:r>
              <a:rPr lang="ro-RO" dirty="0">
                <a:latin typeface="Calibri" panose="020F0502020204030204" pitchFamily="34" charset="0"/>
                <a:ea typeface="Calibri" panose="020F0502020204030204" pitchFamily="34" charset="0"/>
                <a:cs typeface="Calibri" panose="020F0502020204030204" pitchFamily="34" charset="0"/>
              </a:rPr>
              <a:t> și de un răspuns inflamator anormal, fiind o afecțiune comună, dar netratabilă definitiv.</a:t>
            </a:r>
          </a:p>
        </p:txBody>
      </p:sp>
      <p:pic>
        <p:nvPicPr>
          <p:cNvPr id="2050" name="Picture 2" descr="Dermatita seboreica a scalpului: cauze, simptome, tratament | Reginamaria.ro">
            <a:hlinkClick r:id="rId2"/>
            <a:extLst>
              <a:ext uri="{FF2B5EF4-FFF2-40B4-BE49-F238E27FC236}">
                <a16:creationId xmlns:a16="http://schemas.microsoft.com/office/drawing/2014/main" id="{20D3F5B4-7B77-4BB7-CE62-93A8397B5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5481" y="2320413"/>
            <a:ext cx="4838700" cy="322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39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1519763-24B7-BD29-8BD4-CA3E31A1059A}"/>
              </a:ext>
            </a:extLst>
          </p:cNvPr>
          <p:cNvSpPr>
            <a:spLocks noGrp="1"/>
          </p:cNvSpPr>
          <p:nvPr>
            <p:ph type="title"/>
          </p:nvPr>
        </p:nvSpPr>
        <p:spPr/>
        <p:txBody>
          <a:bodyPr/>
          <a:lstStyle/>
          <a:p>
            <a:r>
              <a:rPr lang="ro-RO" dirty="0">
                <a:solidFill>
                  <a:srgbClr val="FFFF00"/>
                </a:solidFill>
              </a:rPr>
              <a:t>Lichen plan(CAZ GALBEN „Medicament/consult opțional”)</a:t>
            </a:r>
            <a:endParaRPr lang="ro-RO" dirty="0"/>
          </a:p>
        </p:txBody>
      </p:sp>
      <p:sp>
        <p:nvSpPr>
          <p:cNvPr id="3" name="Substituent conținut 2">
            <a:extLst>
              <a:ext uri="{FF2B5EF4-FFF2-40B4-BE49-F238E27FC236}">
                <a16:creationId xmlns:a16="http://schemas.microsoft.com/office/drawing/2014/main" id="{AA735456-CF48-0197-7664-B071D823AAA0}"/>
              </a:ext>
            </a:extLst>
          </p:cNvPr>
          <p:cNvSpPr>
            <a:spLocks noGrp="1"/>
          </p:cNvSpPr>
          <p:nvPr>
            <p:ph idx="1"/>
          </p:nvPr>
        </p:nvSpPr>
        <p:spPr>
          <a:xfrm>
            <a:off x="1141412" y="2249487"/>
            <a:ext cx="6911207" cy="3541714"/>
          </a:xfrm>
        </p:spPr>
        <p:txBody>
          <a:bodyPr>
            <a:normAutofit fontScale="92500"/>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Lichenul plan este o </a:t>
            </a:r>
            <a:r>
              <a:rPr lang="ro-RO" b="1" dirty="0">
                <a:latin typeface="Calibri" panose="020F0502020204030204" pitchFamily="34" charset="0"/>
                <a:ea typeface="Calibri" panose="020F0502020204030204" pitchFamily="34" charset="0"/>
                <a:cs typeface="Calibri" panose="020F0502020204030204" pitchFamily="34" charset="0"/>
              </a:rPr>
              <a:t>boală inflamatorie cronică, non-contagioasă</a:t>
            </a:r>
            <a:r>
              <a:rPr lang="ro-RO" dirty="0">
                <a:latin typeface="Calibri" panose="020F0502020204030204" pitchFamily="34" charset="0"/>
                <a:ea typeface="Calibri" panose="020F0502020204030204" pitchFamily="34" charset="0"/>
                <a:cs typeface="Calibri" panose="020F0502020204030204" pitchFamily="34" charset="0"/>
              </a:rPr>
              <a:t>, care afectează pielea, mucoasele (în special cea bucală) și unghiile.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Leziunile caracteristice sunt </a:t>
            </a:r>
            <a:r>
              <a:rPr lang="ro-RO" b="1" dirty="0">
                <a:latin typeface="Calibri" panose="020F0502020204030204" pitchFamily="34" charset="0"/>
                <a:ea typeface="Calibri" panose="020F0502020204030204" pitchFamily="34" charset="0"/>
                <a:cs typeface="Calibri" panose="020F0502020204030204" pitchFamily="34" charset="0"/>
              </a:rPr>
              <a:t>papule violacee, pruriginoase, poligonale și lucioase</a:t>
            </a:r>
            <a:r>
              <a:rPr lang="ro-RO" dirty="0">
                <a:latin typeface="Calibri" panose="020F0502020204030204" pitchFamily="34" charset="0"/>
                <a:ea typeface="Calibri" panose="020F0502020204030204" pitchFamily="34" charset="0"/>
                <a:cs typeface="Calibri" panose="020F0502020204030204" pitchFamily="34" charset="0"/>
              </a:rPr>
              <a:t>, adesea cu un aspect fin, reticulat (striații </a:t>
            </a:r>
            <a:r>
              <a:rPr lang="ro-RO" dirty="0" err="1">
                <a:latin typeface="Calibri" panose="020F0502020204030204" pitchFamily="34" charset="0"/>
                <a:ea typeface="Calibri" panose="020F0502020204030204" pitchFamily="34" charset="0"/>
                <a:cs typeface="Calibri" panose="020F0502020204030204" pitchFamily="34" charset="0"/>
              </a:rPr>
              <a:t>Wickham</a:t>
            </a:r>
            <a:r>
              <a:rPr lang="ro-RO" dirty="0">
                <a:latin typeface="Calibri" panose="020F0502020204030204" pitchFamily="34" charset="0"/>
                <a:ea typeface="Calibri" panose="020F0502020204030204" pitchFamily="34" charset="0"/>
                <a:cs typeface="Calibri" panose="020F0502020204030204" pitchFamily="34" charset="0"/>
              </a:rPr>
              <a:t>) observabil pe suprafața lor.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Poate fi declanșat de stres, medicamente sau infecții virale, iar tratamentul este simptomatic.</a:t>
            </a:r>
          </a:p>
        </p:txBody>
      </p:sp>
      <p:pic>
        <p:nvPicPr>
          <p:cNvPr id="3074" name="Picture 2" descr="Lichen plan — Wikipédia">
            <a:extLst>
              <a:ext uri="{FF2B5EF4-FFF2-40B4-BE49-F238E27FC236}">
                <a16:creationId xmlns:a16="http://schemas.microsoft.com/office/drawing/2014/main" id="{D9ADF08F-1235-F194-3476-5FE2DEDF91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2619" y="2005060"/>
            <a:ext cx="3992256" cy="3702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40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51B1C65-801A-CFE4-4E96-5AA55627FE8E}"/>
              </a:ext>
            </a:extLst>
          </p:cNvPr>
          <p:cNvSpPr>
            <a:spLocks noGrp="1"/>
          </p:cNvSpPr>
          <p:nvPr>
            <p:ph type="title"/>
          </p:nvPr>
        </p:nvSpPr>
        <p:spPr/>
        <p:txBody>
          <a:bodyPr/>
          <a:lstStyle/>
          <a:p>
            <a:r>
              <a:rPr lang="ro-RO" dirty="0" err="1">
                <a:solidFill>
                  <a:srgbClr val="00B050"/>
                </a:solidFill>
              </a:rPr>
              <a:t>Pityriasis</a:t>
            </a:r>
            <a:r>
              <a:rPr lang="ro-RO" dirty="0">
                <a:solidFill>
                  <a:srgbClr val="00B050"/>
                </a:solidFill>
              </a:rPr>
              <a:t> </a:t>
            </a:r>
            <a:r>
              <a:rPr lang="ro-RO" dirty="0" err="1">
                <a:solidFill>
                  <a:srgbClr val="00B050"/>
                </a:solidFill>
              </a:rPr>
              <a:t>rosea</a:t>
            </a:r>
            <a:r>
              <a:rPr lang="ro-RO" dirty="0">
                <a:solidFill>
                  <a:srgbClr val="00B050"/>
                </a:solidFill>
              </a:rPr>
              <a:t> (CAZ VERDE „TRECE DE LA SINE”</a:t>
            </a:r>
          </a:p>
        </p:txBody>
      </p:sp>
      <p:sp>
        <p:nvSpPr>
          <p:cNvPr id="3" name="Substituent conținut 2">
            <a:extLst>
              <a:ext uri="{FF2B5EF4-FFF2-40B4-BE49-F238E27FC236}">
                <a16:creationId xmlns:a16="http://schemas.microsoft.com/office/drawing/2014/main" id="{93D19099-4108-4314-B466-1614103DDB06}"/>
              </a:ext>
            </a:extLst>
          </p:cNvPr>
          <p:cNvSpPr>
            <a:spLocks noGrp="1"/>
          </p:cNvSpPr>
          <p:nvPr>
            <p:ph idx="1"/>
          </p:nvPr>
        </p:nvSpPr>
        <p:spPr>
          <a:xfrm>
            <a:off x="1141412" y="2249487"/>
            <a:ext cx="6655569" cy="3541714"/>
          </a:xfrm>
        </p:spPr>
        <p:txBody>
          <a:bodyPr>
            <a:normAutofit fontScale="92500"/>
          </a:bodyPr>
          <a:lstStyle/>
          <a:p>
            <a:pPr marL="0" indent="0">
              <a:buNone/>
            </a:pPr>
            <a:r>
              <a:rPr lang="ro-RO" dirty="0" err="1">
                <a:latin typeface="Calibri" panose="020F0502020204030204" pitchFamily="34" charset="0"/>
                <a:ea typeface="Calibri" panose="020F0502020204030204" pitchFamily="34" charset="0"/>
                <a:cs typeface="Calibri" panose="020F0502020204030204" pitchFamily="34" charset="0"/>
              </a:rPr>
              <a:t>Pityriasis</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rosea</a:t>
            </a:r>
            <a:r>
              <a:rPr lang="ro-RO" dirty="0">
                <a:latin typeface="Calibri" panose="020F0502020204030204" pitchFamily="34" charset="0"/>
                <a:ea typeface="Calibri" panose="020F0502020204030204" pitchFamily="34" charset="0"/>
                <a:cs typeface="Calibri" panose="020F0502020204030204" pitchFamily="34" charset="0"/>
              </a:rPr>
              <a:t> este o </a:t>
            </a:r>
            <a:r>
              <a:rPr lang="ro-RO" b="1" dirty="0">
                <a:latin typeface="Calibri" panose="020F0502020204030204" pitchFamily="34" charset="0"/>
                <a:ea typeface="Calibri" panose="020F0502020204030204" pitchFamily="34" charset="0"/>
                <a:cs typeface="Calibri" panose="020F0502020204030204" pitchFamily="34" charset="0"/>
              </a:rPr>
              <a:t>erupție cutanată auto-limitată (de obicei durează 6-8 săptămâni)</a:t>
            </a:r>
            <a:r>
              <a:rPr lang="ro-RO" dirty="0">
                <a:latin typeface="Calibri" panose="020F0502020204030204" pitchFamily="34" charset="0"/>
                <a:ea typeface="Calibri" panose="020F0502020204030204" pitchFamily="34" charset="0"/>
                <a:cs typeface="Calibri" panose="020F0502020204030204" pitchFamily="34" charset="0"/>
              </a:rPr>
              <a:t>, cel mai probabil de etiologie virală (posibil Herpes virus uman 6 și 7).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Debutează adesea cu o singură placă mai mare, numită </a:t>
            </a:r>
            <a:r>
              <a:rPr lang="ro-RO" b="1" dirty="0">
                <a:latin typeface="Calibri" panose="020F0502020204030204" pitchFamily="34" charset="0"/>
                <a:ea typeface="Calibri" panose="020F0502020204030204" pitchFamily="34" charset="0"/>
                <a:cs typeface="Calibri" panose="020F0502020204030204" pitchFamily="34" charset="0"/>
              </a:rPr>
              <a:t>"placă heraldică"</a:t>
            </a:r>
            <a:r>
              <a:rPr lang="ro-RO" dirty="0">
                <a:latin typeface="Calibri" panose="020F0502020204030204" pitchFamily="34" charset="0"/>
                <a:ea typeface="Calibri" panose="020F0502020204030204" pitchFamily="34" charset="0"/>
                <a:cs typeface="Calibri" panose="020F0502020204030204" pitchFamily="34" charset="0"/>
              </a:rPr>
              <a:t>, urmată de o erupție generalizată de pete ovale, de culoare roz-roșiatică, dispuse pe trunchi și membre într-un model asemănător unui "pom de Crăciun".</a:t>
            </a:r>
          </a:p>
        </p:txBody>
      </p:sp>
      <p:pic>
        <p:nvPicPr>
          <p:cNvPr id="4098" name="Picture 2" descr="Pityriasis Rosea - Dermatology Care of Charlotte">
            <a:hlinkClick r:id="rId2"/>
            <a:extLst>
              <a:ext uri="{FF2B5EF4-FFF2-40B4-BE49-F238E27FC236}">
                <a16:creationId xmlns:a16="http://schemas.microsoft.com/office/drawing/2014/main" id="{C551B13E-DADB-969A-0175-FDEC33F7B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205" y="2097088"/>
            <a:ext cx="3310654" cy="331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804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9A643BE-A2A6-E6E2-9DEE-39BC8F6ECD01}"/>
              </a:ext>
            </a:extLst>
          </p:cNvPr>
          <p:cNvSpPr>
            <a:spLocks noGrp="1"/>
          </p:cNvSpPr>
          <p:nvPr>
            <p:ph type="title"/>
          </p:nvPr>
        </p:nvSpPr>
        <p:spPr/>
        <p:txBody>
          <a:bodyPr/>
          <a:lstStyle/>
          <a:p>
            <a:r>
              <a:rPr lang="ro-RO" dirty="0">
                <a:solidFill>
                  <a:srgbClr val="FF0000"/>
                </a:solidFill>
              </a:rPr>
              <a:t>DERMATITĂ CRONICĂ (caz roșu „Mergi la doctor”)</a:t>
            </a:r>
            <a:endParaRPr lang="ro-RO" dirty="0"/>
          </a:p>
        </p:txBody>
      </p:sp>
      <p:sp>
        <p:nvSpPr>
          <p:cNvPr id="3" name="Substituent conținut 2">
            <a:extLst>
              <a:ext uri="{FF2B5EF4-FFF2-40B4-BE49-F238E27FC236}">
                <a16:creationId xmlns:a16="http://schemas.microsoft.com/office/drawing/2014/main" id="{FE58D5A6-8D9E-46ED-6249-A54509BDB9E2}"/>
              </a:ext>
            </a:extLst>
          </p:cNvPr>
          <p:cNvSpPr>
            <a:spLocks noGrp="1"/>
          </p:cNvSpPr>
          <p:nvPr>
            <p:ph idx="1"/>
          </p:nvPr>
        </p:nvSpPr>
        <p:spPr>
          <a:xfrm>
            <a:off x="807115" y="2097088"/>
            <a:ext cx="6498253" cy="3541714"/>
          </a:xfrm>
        </p:spPr>
        <p:txBody>
          <a:bodyPr>
            <a:normAutofit fontScale="92500"/>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Dermatita cronică reprezintă o inflamație persistentă a pielii, fiind un termen umbrelă pentru diverse afecțiuni (ex: dermatita </a:t>
            </a:r>
            <a:r>
              <a:rPr lang="ro-RO" dirty="0" err="1">
                <a:latin typeface="Calibri" panose="020F0502020204030204" pitchFamily="34" charset="0"/>
                <a:ea typeface="Calibri" panose="020F0502020204030204" pitchFamily="34" charset="0"/>
                <a:cs typeface="Calibri" panose="020F0502020204030204" pitchFamily="34" charset="0"/>
              </a:rPr>
              <a:t>atopică</a:t>
            </a:r>
            <a:r>
              <a:rPr lang="ro-RO" dirty="0">
                <a:latin typeface="Calibri" panose="020F0502020204030204" pitchFamily="34" charset="0"/>
                <a:ea typeface="Calibri" panose="020F0502020204030204" pitchFamily="34" charset="0"/>
                <a:cs typeface="Calibri" panose="020F0502020204030204" pitchFamily="34" charset="0"/>
              </a:rPr>
              <a:t>, dermatita de contact) ajunse în stadiul cronic.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Se caracterizează prin îngroșarea pielii (lichenificare), uscăciune severă, fisuri și prurit intens, rezultat adesea din </a:t>
            </a:r>
            <a:r>
              <a:rPr lang="ro-RO" dirty="0" err="1">
                <a:latin typeface="Calibri" panose="020F0502020204030204" pitchFamily="34" charset="0"/>
                <a:ea typeface="Calibri" panose="020F0502020204030204" pitchFamily="34" charset="0"/>
                <a:cs typeface="Calibri" panose="020F0502020204030204" pitchFamily="34" charset="0"/>
              </a:rPr>
              <a:t>gratajul</a:t>
            </a:r>
            <a:r>
              <a:rPr lang="ro-RO" dirty="0">
                <a:latin typeface="Calibri" panose="020F0502020204030204" pitchFamily="34" charset="0"/>
                <a:ea typeface="Calibri" panose="020F0502020204030204" pitchFamily="34" charset="0"/>
                <a:cs typeface="Calibri" panose="020F0502020204030204" pitchFamily="34" charset="0"/>
              </a:rPr>
              <a:t> repetat pe o perioadă lungă. Este crucială identificarea și evitarea factorilor declanșatori.</a:t>
            </a:r>
          </a:p>
        </p:txBody>
      </p:sp>
      <p:pic>
        <p:nvPicPr>
          <p:cNvPr id="5123" name="Picture 3" descr="Dermatita atopică - Dr. Leventer Centre">
            <a:extLst>
              <a:ext uri="{FF2B5EF4-FFF2-40B4-BE49-F238E27FC236}">
                <a16:creationId xmlns:a16="http://schemas.microsoft.com/office/drawing/2014/main" id="{1FD8CB25-3E19-3E3D-7939-04F890E3C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5368" y="2239654"/>
            <a:ext cx="4664310" cy="3062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290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BB5E926-903E-1157-0611-C02DC4A2419C}"/>
              </a:ext>
            </a:extLst>
          </p:cNvPr>
          <p:cNvSpPr>
            <a:spLocks noGrp="1"/>
          </p:cNvSpPr>
          <p:nvPr>
            <p:ph type="title"/>
          </p:nvPr>
        </p:nvSpPr>
        <p:spPr/>
        <p:txBody>
          <a:bodyPr/>
          <a:lstStyle/>
          <a:p>
            <a:r>
              <a:rPr lang="ro-RO" dirty="0">
                <a:solidFill>
                  <a:srgbClr val="FF0000"/>
                </a:solidFill>
              </a:rPr>
              <a:t>PITYRIASIS RUBRA PILARIS (caz roșu „Mergi la doctor”)</a:t>
            </a:r>
          </a:p>
        </p:txBody>
      </p:sp>
      <p:sp>
        <p:nvSpPr>
          <p:cNvPr id="3" name="Substituent conținut 2">
            <a:extLst>
              <a:ext uri="{FF2B5EF4-FFF2-40B4-BE49-F238E27FC236}">
                <a16:creationId xmlns:a16="http://schemas.microsoft.com/office/drawing/2014/main" id="{3F714189-19D3-617A-F2D5-588C3D9FBC15}"/>
              </a:ext>
            </a:extLst>
          </p:cNvPr>
          <p:cNvSpPr>
            <a:spLocks noGrp="1"/>
          </p:cNvSpPr>
          <p:nvPr>
            <p:ph idx="1"/>
          </p:nvPr>
        </p:nvSpPr>
        <p:spPr>
          <a:xfrm>
            <a:off x="1141413" y="2249487"/>
            <a:ext cx="6567078" cy="3541714"/>
          </a:xfrm>
        </p:spPr>
        <p:txBody>
          <a:bodyPr>
            <a:normAutofit lnSpcReduction="10000"/>
          </a:bodyPr>
          <a:lstStyle/>
          <a:p>
            <a:pPr marL="0" indent="0">
              <a:buNone/>
            </a:pPr>
            <a:r>
              <a:rPr lang="ro-RO" dirty="0" err="1">
                <a:latin typeface="Calibri" panose="020F0502020204030204" pitchFamily="34" charset="0"/>
                <a:ea typeface="Calibri" panose="020F0502020204030204" pitchFamily="34" charset="0"/>
                <a:cs typeface="Calibri" panose="020F0502020204030204" pitchFamily="34" charset="0"/>
              </a:rPr>
              <a:t>Pityriasis</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rubra</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pilaris</a:t>
            </a:r>
            <a:r>
              <a:rPr lang="ro-RO" dirty="0">
                <a:latin typeface="Calibri" panose="020F0502020204030204" pitchFamily="34" charset="0"/>
                <a:ea typeface="Calibri" panose="020F0502020204030204" pitchFamily="34" charset="0"/>
                <a:cs typeface="Calibri" panose="020F0502020204030204" pitchFamily="34" charset="0"/>
              </a:rPr>
              <a:t> (PRP) este o </a:t>
            </a:r>
            <a:r>
              <a:rPr lang="ro-RO" b="1" dirty="0">
                <a:latin typeface="Calibri" panose="020F0502020204030204" pitchFamily="34" charset="0"/>
                <a:ea typeface="Calibri" panose="020F0502020204030204" pitchFamily="34" charset="0"/>
                <a:cs typeface="Calibri" panose="020F0502020204030204" pitchFamily="34" charset="0"/>
              </a:rPr>
              <a:t>afecțiune inflamatorie cronică rară</a:t>
            </a:r>
            <a:r>
              <a:rPr lang="ro-RO" dirty="0">
                <a:latin typeface="Calibri" panose="020F0502020204030204" pitchFamily="34" charset="0"/>
                <a:ea typeface="Calibri" panose="020F0502020204030204" pitchFamily="34" charset="0"/>
                <a:cs typeface="Calibri" panose="020F0502020204030204" pitchFamily="34" charset="0"/>
              </a:rPr>
              <a:t> caracterizată prin </a:t>
            </a:r>
            <a:r>
              <a:rPr lang="ro-RO" b="1" dirty="0">
                <a:latin typeface="Calibri" panose="020F0502020204030204" pitchFamily="34" charset="0"/>
                <a:ea typeface="Calibri" panose="020F0502020204030204" pitchFamily="34" charset="0"/>
                <a:cs typeface="Calibri" panose="020F0502020204030204" pitchFamily="34" charset="0"/>
              </a:rPr>
              <a:t>foliculi </a:t>
            </a:r>
            <a:r>
              <a:rPr lang="ro-RO" b="1" dirty="0" err="1">
                <a:latin typeface="Calibri" panose="020F0502020204030204" pitchFamily="34" charset="0"/>
                <a:ea typeface="Calibri" panose="020F0502020204030204" pitchFamily="34" charset="0"/>
                <a:cs typeface="Calibri" panose="020F0502020204030204" pitchFamily="34" charset="0"/>
              </a:rPr>
              <a:t>pilari</a:t>
            </a:r>
            <a:r>
              <a:rPr lang="ro-RO" b="1" dirty="0">
                <a:latin typeface="Calibri" panose="020F0502020204030204" pitchFamily="34" charset="0"/>
                <a:ea typeface="Calibri" panose="020F0502020204030204" pitchFamily="34" charset="0"/>
                <a:cs typeface="Calibri" panose="020F0502020204030204" pitchFamily="34" charset="0"/>
              </a:rPr>
              <a:t> </a:t>
            </a:r>
            <a:r>
              <a:rPr lang="ro-RO" b="1" dirty="0" err="1">
                <a:latin typeface="Calibri" panose="020F0502020204030204" pitchFamily="34" charset="0"/>
                <a:ea typeface="Calibri" panose="020F0502020204030204" pitchFamily="34" charset="0"/>
                <a:cs typeface="Calibri" panose="020F0502020204030204" pitchFamily="34" charset="0"/>
              </a:rPr>
              <a:t>hiperkeratozici</a:t>
            </a:r>
            <a:r>
              <a:rPr lang="ro-RO" b="1" dirty="0">
                <a:latin typeface="Calibri" panose="020F0502020204030204" pitchFamily="34" charset="0"/>
                <a:ea typeface="Calibri" panose="020F0502020204030204" pitchFamily="34" charset="0"/>
                <a:cs typeface="Calibri" panose="020F0502020204030204" pitchFamily="34" charset="0"/>
              </a:rPr>
              <a:t> (îngroșați), mici papule roșii-portocalii și zone de eritem</a:t>
            </a:r>
            <a:r>
              <a:rPr lang="ro-RO" dirty="0">
                <a:latin typeface="Calibri" panose="020F0502020204030204" pitchFamily="34" charset="0"/>
                <a:ea typeface="Calibri" panose="020F0502020204030204" pitchFamily="34" charset="0"/>
                <a:cs typeface="Calibri" panose="020F0502020204030204" pitchFamily="34" charset="0"/>
              </a:rPr>
              <a:t> ("roșeață") extinse.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Deseori, lasă o zonă de piele "normală" (insule de piele sănătoasă) în mijlocul leziunilor. Poate evolua spre eritrodermie (roșeață generalizată) și necesită un tratament sistemic complex.</a:t>
            </a:r>
          </a:p>
        </p:txBody>
      </p:sp>
      <p:pic>
        <p:nvPicPr>
          <p:cNvPr id="6148" name="Picture 4" descr="Pityriasis rubra pilaris: a rare inflammatory dermatosis | BMJ Case Reports">
            <a:hlinkClick r:id="rId2"/>
            <a:extLst>
              <a:ext uri="{FF2B5EF4-FFF2-40B4-BE49-F238E27FC236}">
                <a16:creationId xmlns:a16="http://schemas.microsoft.com/office/drawing/2014/main" id="{CFC0077B-AF21-3C71-F893-A9DD2FA1EE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8491" y="2421552"/>
            <a:ext cx="4206260" cy="2806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85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63BD-72FD-8F38-CBC7-F66B6D6C7A70}"/>
            </a:ext>
          </a:extLst>
        </p:cNvPr>
        <p:cNvGrpSpPr/>
        <p:nvPr/>
      </p:nvGrpSpPr>
      <p:grpSpPr>
        <a:xfrm>
          <a:off x="0" y="0"/>
          <a:ext cx="0" cy="0"/>
          <a:chOff x="0" y="0"/>
          <a:chExt cx="0" cy="0"/>
        </a:xfrm>
      </p:grpSpPr>
      <p:sp>
        <p:nvSpPr>
          <p:cNvPr id="2" name="CasetăText 1">
            <a:extLst>
              <a:ext uri="{FF2B5EF4-FFF2-40B4-BE49-F238E27FC236}">
                <a16:creationId xmlns:a16="http://schemas.microsoft.com/office/drawing/2014/main" id="{0AD4E983-2DC0-9993-24C3-F0BCFD6F1967}"/>
              </a:ext>
            </a:extLst>
          </p:cNvPr>
          <p:cNvSpPr txBox="1"/>
          <p:nvPr/>
        </p:nvSpPr>
        <p:spPr>
          <a:xfrm>
            <a:off x="3222521" y="2688527"/>
            <a:ext cx="9286568" cy="523220"/>
          </a:xfrm>
          <a:prstGeom prst="rect">
            <a:avLst/>
          </a:prstGeom>
          <a:noFill/>
        </p:spPr>
        <p:txBody>
          <a:bodyPr wrap="square" rtlCol="0">
            <a:spAutoFit/>
          </a:bodyPr>
          <a:lstStyle/>
          <a:p>
            <a:r>
              <a:rPr lang="ro-RO" sz="28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EI BINE... A FOST CHIAR ATÂT DE RĂU?</a:t>
            </a:r>
          </a:p>
        </p:txBody>
      </p:sp>
      <p:sp>
        <p:nvSpPr>
          <p:cNvPr id="3" name="Dreptunghi 2">
            <a:hlinkClick r:id="rId2" action="ppaction://hlinksldjump"/>
            <a:extLst>
              <a:ext uri="{FF2B5EF4-FFF2-40B4-BE49-F238E27FC236}">
                <a16:creationId xmlns:a16="http://schemas.microsoft.com/office/drawing/2014/main" id="{1AC3E17C-DF44-B384-202D-38411D3AE0E9}"/>
              </a:ext>
            </a:extLst>
          </p:cNvPr>
          <p:cNvSpPr/>
          <p:nvPr/>
        </p:nvSpPr>
        <p:spPr>
          <a:xfrm>
            <a:off x="3028335" y="3795252"/>
            <a:ext cx="2094271" cy="865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o-RO" dirty="0">
                <a:solidFill>
                  <a:sysClr val="windowText" lastClr="000000"/>
                </a:solidFill>
              </a:rPr>
              <a:t>DA</a:t>
            </a:r>
          </a:p>
        </p:txBody>
      </p:sp>
      <p:sp>
        <p:nvSpPr>
          <p:cNvPr id="4" name="Dreptunghi 3">
            <a:hlinkClick r:id="rId2" action="ppaction://hlinksldjump"/>
            <a:extLst>
              <a:ext uri="{FF2B5EF4-FFF2-40B4-BE49-F238E27FC236}">
                <a16:creationId xmlns:a16="http://schemas.microsoft.com/office/drawing/2014/main" id="{1830B0CB-ACCB-6355-644B-9CF8307A548B}"/>
              </a:ext>
            </a:extLst>
          </p:cNvPr>
          <p:cNvSpPr/>
          <p:nvPr/>
        </p:nvSpPr>
        <p:spPr>
          <a:xfrm>
            <a:off x="6818670" y="3795252"/>
            <a:ext cx="2094271" cy="8652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o-RO" dirty="0">
                <a:solidFill>
                  <a:sysClr val="windowText" lastClr="000000"/>
                </a:solidFill>
              </a:rPr>
              <a:t>NU</a:t>
            </a:r>
          </a:p>
        </p:txBody>
      </p:sp>
    </p:spTree>
    <p:extLst>
      <p:ext uri="{BB962C8B-B14F-4D97-AF65-F5344CB8AC3E}">
        <p14:creationId xmlns:p14="http://schemas.microsoft.com/office/powerpoint/2010/main" val="268937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8FDDA-9825-9CB5-0FB0-3FCDEB0BBFF5}"/>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EAE309F1-57B7-E526-FC5F-92BEA95E9659}"/>
              </a:ext>
            </a:extLst>
          </p:cNvPr>
          <p:cNvSpPr>
            <a:spLocks noGrp="1"/>
          </p:cNvSpPr>
          <p:nvPr>
            <p:ph type="title"/>
          </p:nvPr>
        </p:nvSpPr>
        <p:spPr/>
        <p:txBody>
          <a:bodyPr/>
          <a:lstStyle/>
          <a:p>
            <a:r>
              <a:rPr lang="ro-RO" dirty="0">
                <a:solidFill>
                  <a:srgbClr val="FF0000"/>
                </a:solidFill>
              </a:rPr>
              <a:t>Psoriazis (caz roșu „Mergi la doctor”)</a:t>
            </a:r>
          </a:p>
        </p:txBody>
      </p:sp>
      <p:sp>
        <p:nvSpPr>
          <p:cNvPr id="3" name="Substituent conținut 2">
            <a:extLst>
              <a:ext uri="{FF2B5EF4-FFF2-40B4-BE49-F238E27FC236}">
                <a16:creationId xmlns:a16="http://schemas.microsoft.com/office/drawing/2014/main" id="{7D64D744-9AF4-83C1-AE3C-146EFA24DF58}"/>
              </a:ext>
            </a:extLst>
          </p:cNvPr>
          <p:cNvSpPr>
            <a:spLocks noGrp="1"/>
          </p:cNvSpPr>
          <p:nvPr>
            <p:ph idx="1"/>
          </p:nvPr>
        </p:nvSpPr>
        <p:spPr>
          <a:xfrm>
            <a:off x="1141412" y="1777538"/>
            <a:ext cx="9905997" cy="4328293"/>
          </a:xfrm>
        </p:spPr>
        <p:txBody>
          <a:bodyPr>
            <a:normAutofit/>
          </a:bodyPr>
          <a:lstStyle/>
          <a:p>
            <a:pPr marL="0" indent="0">
              <a:buNone/>
            </a:pPr>
            <a:r>
              <a:rPr lang="ro-RO" dirty="0"/>
              <a:t>Psoriazisul este o </a:t>
            </a:r>
            <a:r>
              <a:rPr lang="ro-RO" b="1" dirty="0"/>
              <a:t>boală cronică autoimună</a:t>
            </a:r>
            <a:r>
              <a:rPr lang="ro-RO" dirty="0"/>
              <a:t> care determină acumularea rapidă a celulelor pielii, ducând la formarea de </a:t>
            </a:r>
            <a:r>
              <a:rPr lang="ro-RO" b="1" dirty="0"/>
              <a:t>plăci groase, solzoase, roșii, bine delimitate</a:t>
            </a:r>
            <a:r>
              <a:rPr lang="ro-RO" dirty="0"/>
              <a:t>, adesea însoțite de prurit și durere. </a:t>
            </a:r>
          </a:p>
          <a:p>
            <a:pPr marL="0" indent="0">
              <a:buNone/>
            </a:pPr>
            <a:r>
              <a:rPr lang="ro-RO" dirty="0"/>
              <a:t>Este o afecțiune cu evoluție ciclică (</a:t>
            </a:r>
            <a:r>
              <a:rPr lang="ro-RO" dirty="0" err="1"/>
              <a:t>remisii</a:t>
            </a:r>
            <a:r>
              <a:rPr lang="ro-RO" dirty="0"/>
              <a:t> și puseuri), afectând frecvent coatele, genunchii, scalpul și unghiile. Nu este contagioasă, iar tratamentul vizează controlul simptomelor și încetinirea creșterii celulelor.</a:t>
            </a:r>
          </a:p>
        </p:txBody>
      </p:sp>
    </p:spTree>
    <p:extLst>
      <p:ext uri="{BB962C8B-B14F-4D97-AF65-F5344CB8AC3E}">
        <p14:creationId xmlns:p14="http://schemas.microsoft.com/office/powerpoint/2010/main" val="1216190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1016-0340-06A3-CBCD-7A1CC3918D82}"/>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DDB7633B-5277-6698-2E09-60E1816A54B2}"/>
              </a:ext>
            </a:extLst>
          </p:cNvPr>
          <p:cNvSpPr>
            <a:spLocks noGrp="1"/>
          </p:cNvSpPr>
          <p:nvPr>
            <p:ph type="title"/>
          </p:nvPr>
        </p:nvSpPr>
        <p:spPr/>
        <p:txBody>
          <a:bodyPr/>
          <a:lstStyle/>
          <a:p>
            <a:r>
              <a:rPr lang="ro-RO" dirty="0">
                <a:solidFill>
                  <a:srgbClr val="FFFF00"/>
                </a:solidFill>
              </a:rPr>
              <a:t>DERMATITĂ SEBOREICĂ (CAZ GALBEN „Medicament/consult opțional”)</a:t>
            </a:r>
          </a:p>
        </p:txBody>
      </p:sp>
      <p:sp>
        <p:nvSpPr>
          <p:cNvPr id="3" name="Substituent conținut 2">
            <a:extLst>
              <a:ext uri="{FF2B5EF4-FFF2-40B4-BE49-F238E27FC236}">
                <a16:creationId xmlns:a16="http://schemas.microsoft.com/office/drawing/2014/main" id="{AB4CD815-7360-857C-D085-8CA091F466C2}"/>
              </a:ext>
            </a:extLst>
          </p:cNvPr>
          <p:cNvSpPr>
            <a:spLocks noGrp="1"/>
          </p:cNvSpPr>
          <p:nvPr>
            <p:ph idx="1"/>
          </p:nvPr>
        </p:nvSpPr>
        <p:spPr>
          <a:xfrm>
            <a:off x="678426" y="1917290"/>
            <a:ext cx="10923639" cy="3873911"/>
          </a:xfrm>
        </p:spPr>
        <p:txBody>
          <a:bodyPr>
            <a:normAutofit/>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Dermatita seboreică este o inflamație cronică a pielii care afectează zonele bogate în glande sebacee, precum </a:t>
            </a:r>
            <a:r>
              <a:rPr lang="ro-RO" b="1" dirty="0">
                <a:latin typeface="Calibri" panose="020F0502020204030204" pitchFamily="34" charset="0"/>
                <a:ea typeface="Calibri" panose="020F0502020204030204" pitchFamily="34" charset="0"/>
                <a:cs typeface="Calibri" panose="020F0502020204030204" pitchFamily="34" charset="0"/>
              </a:rPr>
              <a:t>scalpul, fața (lângă nas, sprâncene)</a:t>
            </a:r>
            <a:r>
              <a:rPr lang="ro-RO" dirty="0">
                <a:latin typeface="Calibri" panose="020F0502020204030204" pitchFamily="34" charset="0"/>
                <a:ea typeface="Calibri" panose="020F0502020204030204" pitchFamily="34" charset="0"/>
                <a:cs typeface="Calibri" panose="020F0502020204030204" pitchFamily="34" charset="0"/>
              </a:rPr>
              <a:t> și pieptul.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Se manifestă prin </a:t>
            </a:r>
            <a:r>
              <a:rPr lang="ro-RO" b="1" dirty="0">
                <a:latin typeface="Calibri" panose="020F0502020204030204" pitchFamily="34" charset="0"/>
                <a:ea typeface="Calibri" panose="020F0502020204030204" pitchFamily="34" charset="0"/>
                <a:cs typeface="Calibri" panose="020F0502020204030204" pitchFamily="34" charset="0"/>
              </a:rPr>
              <a:t>roșeață, scuame gălbui și unsuroase</a:t>
            </a:r>
            <a:r>
              <a:rPr lang="ro-RO" dirty="0">
                <a:latin typeface="Calibri" panose="020F0502020204030204" pitchFamily="34" charset="0"/>
                <a:ea typeface="Calibri" panose="020F0502020204030204" pitchFamily="34" charset="0"/>
                <a:cs typeface="Calibri" panose="020F0502020204030204" pitchFamily="34" charset="0"/>
              </a:rPr>
              <a:t> (mătreață la nivelul scalpului) și prurit.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Este legată de prezența unei </a:t>
            </a:r>
            <a:r>
              <a:rPr lang="ro-RO" dirty="0" err="1">
                <a:latin typeface="Calibri" panose="020F0502020204030204" pitchFamily="34" charset="0"/>
                <a:ea typeface="Calibri" panose="020F0502020204030204" pitchFamily="34" charset="0"/>
                <a:cs typeface="Calibri" panose="020F0502020204030204" pitchFamily="34" charset="0"/>
              </a:rPr>
              <a:t>levuri</a:t>
            </a:r>
            <a:r>
              <a:rPr lang="ro-RO" dirty="0">
                <a:latin typeface="Calibri" panose="020F0502020204030204" pitchFamily="34" charset="0"/>
                <a:ea typeface="Calibri" panose="020F0502020204030204" pitchFamily="34" charset="0"/>
                <a:cs typeface="Calibri" panose="020F0502020204030204" pitchFamily="34" charset="0"/>
              </a:rPr>
              <a:t> și de un răspuns inflamator anormal, fiind o afecțiune comună, dar netratabilă definitiv.</a:t>
            </a:r>
          </a:p>
        </p:txBody>
      </p:sp>
    </p:spTree>
    <p:extLst>
      <p:ext uri="{BB962C8B-B14F-4D97-AF65-F5344CB8AC3E}">
        <p14:creationId xmlns:p14="http://schemas.microsoft.com/office/powerpoint/2010/main" val="1550073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A8A19-E001-4DFD-B22F-CD99D6F7FA46}"/>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E711C151-4F60-30EE-19BE-6A564374C92A}"/>
              </a:ext>
            </a:extLst>
          </p:cNvPr>
          <p:cNvSpPr>
            <a:spLocks noGrp="1"/>
          </p:cNvSpPr>
          <p:nvPr>
            <p:ph type="title"/>
          </p:nvPr>
        </p:nvSpPr>
        <p:spPr/>
        <p:txBody>
          <a:bodyPr/>
          <a:lstStyle/>
          <a:p>
            <a:r>
              <a:rPr lang="ro-RO" dirty="0">
                <a:solidFill>
                  <a:srgbClr val="FFFF00"/>
                </a:solidFill>
              </a:rPr>
              <a:t>Lichen plan(CAZ GALBEN „Medicament/consult opțional”)</a:t>
            </a:r>
            <a:endParaRPr lang="ro-RO" dirty="0"/>
          </a:p>
        </p:txBody>
      </p:sp>
      <p:sp>
        <p:nvSpPr>
          <p:cNvPr id="3" name="Substituent conținut 2">
            <a:extLst>
              <a:ext uri="{FF2B5EF4-FFF2-40B4-BE49-F238E27FC236}">
                <a16:creationId xmlns:a16="http://schemas.microsoft.com/office/drawing/2014/main" id="{92434D64-B558-A1D8-C697-AD15ECAA174A}"/>
              </a:ext>
            </a:extLst>
          </p:cNvPr>
          <p:cNvSpPr>
            <a:spLocks noGrp="1"/>
          </p:cNvSpPr>
          <p:nvPr>
            <p:ph idx="1"/>
          </p:nvPr>
        </p:nvSpPr>
        <p:spPr>
          <a:xfrm>
            <a:off x="1141412" y="2249487"/>
            <a:ext cx="10146020" cy="3541714"/>
          </a:xfrm>
        </p:spPr>
        <p:txBody>
          <a:bodyPr>
            <a:normAutofit/>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Lichenul plan este o </a:t>
            </a:r>
            <a:r>
              <a:rPr lang="ro-RO" b="1" dirty="0">
                <a:latin typeface="Calibri" panose="020F0502020204030204" pitchFamily="34" charset="0"/>
                <a:ea typeface="Calibri" panose="020F0502020204030204" pitchFamily="34" charset="0"/>
                <a:cs typeface="Calibri" panose="020F0502020204030204" pitchFamily="34" charset="0"/>
              </a:rPr>
              <a:t>boală inflamatorie cronică, non-contagioasă</a:t>
            </a:r>
            <a:r>
              <a:rPr lang="ro-RO" dirty="0">
                <a:latin typeface="Calibri" panose="020F0502020204030204" pitchFamily="34" charset="0"/>
                <a:ea typeface="Calibri" panose="020F0502020204030204" pitchFamily="34" charset="0"/>
                <a:cs typeface="Calibri" panose="020F0502020204030204" pitchFamily="34" charset="0"/>
              </a:rPr>
              <a:t>, care afectează pielea, mucoasele (în special cea bucală) și unghiile.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Leziunile caracteristice sunt </a:t>
            </a:r>
            <a:r>
              <a:rPr lang="ro-RO" b="1" dirty="0">
                <a:latin typeface="Calibri" panose="020F0502020204030204" pitchFamily="34" charset="0"/>
                <a:ea typeface="Calibri" panose="020F0502020204030204" pitchFamily="34" charset="0"/>
                <a:cs typeface="Calibri" panose="020F0502020204030204" pitchFamily="34" charset="0"/>
              </a:rPr>
              <a:t>papule violacee, pruriginoase, poligonale și lucioase</a:t>
            </a:r>
            <a:r>
              <a:rPr lang="ro-RO" dirty="0">
                <a:latin typeface="Calibri" panose="020F0502020204030204" pitchFamily="34" charset="0"/>
                <a:ea typeface="Calibri" panose="020F0502020204030204" pitchFamily="34" charset="0"/>
                <a:cs typeface="Calibri" panose="020F0502020204030204" pitchFamily="34" charset="0"/>
              </a:rPr>
              <a:t>, adesea cu un aspect fin, reticulat (striații </a:t>
            </a:r>
            <a:r>
              <a:rPr lang="ro-RO" dirty="0" err="1">
                <a:latin typeface="Calibri" panose="020F0502020204030204" pitchFamily="34" charset="0"/>
                <a:ea typeface="Calibri" panose="020F0502020204030204" pitchFamily="34" charset="0"/>
                <a:cs typeface="Calibri" panose="020F0502020204030204" pitchFamily="34" charset="0"/>
              </a:rPr>
              <a:t>Wickham</a:t>
            </a:r>
            <a:r>
              <a:rPr lang="ro-RO" dirty="0">
                <a:latin typeface="Calibri" panose="020F0502020204030204" pitchFamily="34" charset="0"/>
                <a:ea typeface="Calibri" panose="020F0502020204030204" pitchFamily="34" charset="0"/>
                <a:cs typeface="Calibri" panose="020F0502020204030204" pitchFamily="34" charset="0"/>
              </a:rPr>
              <a:t>) observabil pe suprafața lor.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Poate fi declanșat de stres, medicamente sau infecții virale, iar tratamentul este simptomatic.</a:t>
            </a:r>
          </a:p>
        </p:txBody>
      </p:sp>
    </p:spTree>
    <p:extLst>
      <p:ext uri="{BB962C8B-B14F-4D97-AF65-F5344CB8AC3E}">
        <p14:creationId xmlns:p14="http://schemas.microsoft.com/office/powerpoint/2010/main" val="3705964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4804-CE76-2DF5-7A26-641B02D5729E}"/>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785108DF-526C-CD82-0CD3-8EFB68D830F5}"/>
              </a:ext>
            </a:extLst>
          </p:cNvPr>
          <p:cNvSpPr>
            <a:spLocks noGrp="1"/>
          </p:cNvSpPr>
          <p:nvPr>
            <p:ph type="title"/>
          </p:nvPr>
        </p:nvSpPr>
        <p:spPr/>
        <p:txBody>
          <a:bodyPr/>
          <a:lstStyle/>
          <a:p>
            <a:r>
              <a:rPr lang="ro-RO" dirty="0" err="1">
                <a:solidFill>
                  <a:srgbClr val="00B050"/>
                </a:solidFill>
              </a:rPr>
              <a:t>Pityriasis</a:t>
            </a:r>
            <a:r>
              <a:rPr lang="ro-RO" dirty="0">
                <a:solidFill>
                  <a:srgbClr val="00B050"/>
                </a:solidFill>
              </a:rPr>
              <a:t> </a:t>
            </a:r>
            <a:r>
              <a:rPr lang="ro-RO" dirty="0" err="1">
                <a:solidFill>
                  <a:srgbClr val="00B050"/>
                </a:solidFill>
              </a:rPr>
              <a:t>rosea</a:t>
            </a:r>
            <a:r>
              <a:rPr lang="ro-RO" dirty="0">
                <a:solidFill>
                  <a:srgbClr val="00B050"/>
                </a:solidFill>
              </a:rPr>
              <a:t> (CAZ VERDE „TRECE DE LA SINE”</a:t>
            </a:r>
          </a:p>
        </p:txBody>
      </p:sp>
      <p:sp>
        <p:nvSpPr>
          <p:cNvPr id="3" name="Substituent conținut 2">
            <a:extLst>
              <a:ext uri="{FF2B5EF4-FFF2-40B4-BE49-F238E27FC236}">
                <a16:creationId xmlns:a16="http://schemas.microsoft.com/office/drawing/2014/main" id="{7B95D959-F9FA-4E35-2811-76D4317794FA}"/>
              </a:ext>
            </a:extLst>
          </p:cNvPr>
          <p:cNvSpPr>
            <a:spLocks noGrp="1"/>
          </p:cNvSpPr>
          <p:nvPr>
            <p:ph idx="1"/>
          </p:nvPr>
        </p:nvSpPr>
        <p:spPr>
          <a:xfrm>
            <a:off x="1141412" y="2249487"/>
            <a:ext cx="9536420" cy="3541714"/>
          </a:xfrm>
        </p:spPr>
        <p:txBody>
          <a:bodyPr>
            <a:normAutofit/>
          </a:bodyPr>
          <a:lstStyle/>
          <a:p>
            <a:pPr marL="0" indent="0">
              <a:buNone/>
            </a:pPr>
            <a:r>
              <a:rPr lang="ro-RO" dirty="0" err="1">
                <a:latin typeface="Calibri" panose="020F0502020204030204" pitchFamily="34" charset="0"/>
                <a:ea typeface="Calibri" panose="020F0502020204030204" pitchFamily="34" charset="0"/>
                <a:cs typeface="Calibri" panose="020F0502020204030204" pitchFamily="34" charset="0"/>
              </a:rPr>
              <a:t>Pityriasis</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rosea</a:t>
            </a:r>
            <a:r>
              <a:rPr lang="ro-RO" dirty="0">
                <a:latin typeface="Calibri" panose="020F0502020204030204" pitchFamily="34" charset="0"/>
                <a:ea typeface="Calibri" panose="020F0502020204030204" pitchFamily="34" charset="0"/>
                <a:cs typeface="Calibri" panose="020F0502020204030204" pitchFamily="34" charset="0"/>
              </a:rPr>
              <a:t> este o </a:t>
            </a:r>
            <a:r>
              <a:rPr lang="ro-RO" b="1" dirty="0">
                <a:latin typeface="Calibri" panose="020F0502020204030204" pitchFamily="34" charset="0"/>
                <a:ea typeface="Calibri" panose="020F0502020204030204" pitchFamily="34" charset="0"/>
                <a:cs typeface="Calibri" panose="020F0502020204030204" pitchFamily="34" charset="0"/>
              </a:rPr>
              <a:t>erupție cutanată auto-limitată (de obicei durează 6-8 săptămâni)</a:t>
            </a:r>
            <a:r>
              <a:rPr lang="ro-RO" dirty="0">
                <a:latin typeface="Calibri" panose="020F0502020204030204" pitchFamily="34" charset="0"/>
                <a:ea typeface="Calibri" panose="020F0502020204030204" pitchFamily="34" charset="0"/>
                <a:cs typeface="Calibri" panose="020F0502020204030204" pitchFamily="34" charset="0"/>
              </a:rPr>
              <a:t>, cel mai probabil de etiologie virală (posibil Herpes virus uman 6 și 7).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Debutează adesea cu o singură placă mai mare, numită </a:t>
            </a:r>
            <a:r>
              <a:rPr lang="ro-RO" b="1" dirty="0">
                <a:latin typeface="Calibri" panose="020F0502020204030204" pitchFamily="34" charset="0"/>
                <a:ea typeface="Calibri" panose="020F0502020204030204" pitchFamily="34" charset="0"/>
                <a:cs typeface="Calibri" panose="020F0502020204030204" pitchFamily="34" charset="0"/>
              </a:rPr>
              <a:t>"placă heraldică"</a:t>
            </a:r>
            <a:r>
              <a:rPr lang="ro-RO" dirty="0">
                <a:latin typeface="Calibri" panose="020F0502020204030204" pitchFamily="34" charset="0"/>
                <a:ea typeface="Calibri" panose="020F0502020204030204" pitchFamily="34" charset="0"/>
                <a:cs typeface="Calibri" panose="020F0502020204030204" pitchFamily="34" charset="0"/>
              </a:rPr>
              <a:t>, urmată de o erupție generalizată de pete ovale, de culoare roz-roșiatică, dispuse pe trunchi și membre într-un model asemănător unui "pom de Crăciun".</a:t>
            </a:r>
          </a:p>
        </p:txBody>
      </p:sp>
    </p:spTree>
    <p:extLst>
      <p:ext uri="{BB962C8B-B14F-4D97-AF65-F5344CB8AC3E}">
        <p14:creationId xmlns:p14="http://schemas.microsoft.com/office/powerpoint/2010/main" val="1725466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A869C-5878-88F8-FAC3-AF350339F4AA}"/>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F994CF1F-0E8C-65E4-2B0D-60A7AA8B6050}"/>
              </a:ext>
            </a:extLst>
          </p:cNvPr>
          <p:cNvSpPr>
            <a:spLocks noGrp="1"/>
          </p:cNvSpPr>
          <p:nvPr>
            <p:ph type="title"/>
          </p:nvPr>
        </p:nvSpPr>
        <p:spPr/>
        <p:txBody>
          <a:bodyPr/>
          <a:lstStyle/>
          <a:p>
            <a:r>
              <a:rPr lang="ro-RO" dirty="0">
                <a:solidFill>
                  <a:srgbClr val="FF0000"/>
                </a:solidFill>
              </a:rPr>
              <a:t>DERMATITĂ CRONICĂ (caz roșu „Mergi la doctor”)</a:t>
            </a:r>
            <a:endParaRPr lang="ro-RO" dirty="0"/>
          </a:p>
        </p:txBody>
      </p:sp>
      <p:sp>
        <p:nvSpPr>
          <p:cNvPr id="3" name="Substituent conținut 2">
            <a:extLst>
              <a:ext uri="{FF2B5EF4-FFF2-40B4-BE49-F238E27FC236}">
                <a16:creationId xmlns:a16="http://schemas.microsoft.com/office/drawing/2014/main" id="{57C284FA-4BCC-354C-4F31-87AC08FF02CF}"/>
              </a:ext>
            </a:extLst>
          </p:cNvPr>
          <p:cNvSpPr>
            <a:spLocks noGrp="1"/>
          </p:cNvSpPr>
          <p:nvPr>
            <p:ph idx="1"/>
          </p:nvPr>
        </p:nvSpPr>
        <p:spPr>
          <a:xfrm>
            <a:off x="807115" y="2097088"/>
            <a:ext cx="10539311" cy="3541714"/>
          </a:xfrm>
        </p:spPr>
        <p:txBody>
          <a:bodyPr>
            <a:normAutofit/>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Dermatita cronică reprezintă o inflamație persistentă a pielii, fiind un termen umbrelă pentru diverse afecțiuni (ex: dermatita </a:t>
            </a:r>
            <a:r>
              <a:rPr lang="ro-RO" dirty="0" err="1">
                <a:latin typeface="Calibri" panose="020F0502020204030204" pitchFamily="34" charset="0"/>
                <a:ea typeface="Calibri" panose="020F0502020204030204" pitchFamily="34" charset="0"/>
                <a:cs typeface="Calibri" panose="020F0502020204030204" pitchFamily="34" charset="0"/>
              </a:rPr>
              <a:t>atopică</a:t>
            </a:r>
            <a:r>
              <a:rPr lang="ro-RO" dirty="0">
                <a:latin typeface="Calibri" panose="020F0502020204030204" pitchFamily="34" charset="0"/>
                <a:ea typeface="Calibri" panose="020F0502020204030204" pitchFamily="34" charset="0"/>
                <a:cs typeface="Calibri" panose="020F0502020204030204" pitchFamily="34" charset="0"/>
              </a:rPr>
              <a:t>, dermatita de contact) ajunse în stadiul cronic.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Se caracterizează prin îngroșarea pielii (lichenificare), uscăciune severă, fisuri și prurit intens, rezultat adesea din </a:t>
            </a:r>
            <a:r>
              <a:rPr lang="ro-RO" dirty="0" err="1">
                <a:latin typeface="Calibri" panose="020F0502020204030204" pitchFamily="34" charset="0"/>
                <a:ea typeface="Calibri" panose="020F0502020204030204" pitchFamily="34" charset="0"/>
                <a:cs typeface="Calibri" panose="020F0502020204030204" pitchFamily="34" charset="0"/>
              </a:rPr>
              <a:t>gratajul</a:t>
            </a:r>
            <a:r>
              <a:rPr lang="ro-RO" dirty="0">
                <a:latin typeface="Calibri" panose="020F0502020204030204" pitchFamily="34" charset="0"/>
                <a:ea typeface="Calibri" panose="020F0502020204030204" pitchFamily="34" charset="0"/>
                <a:cs typeface="Calibri" panose="020F0502020204030204" pitchFamily="34" charset="0"/>
              </a:rPr>
              <a:t> repetat pe o perioadă lungă. Este crucială identificarea și evitarea factorilor declanșatori.</a:t>
            </a:r>
          </a:p>
        </p:txBody>
      </p:sp>
    </p:spTree>
    <p:extLst>
      <p:ext uri="{BB962C8B-B14F-4D97-AF65-F5344CB8AC3E}">
        <p14:creationId xmlns:p14="http://schemas.microsoft.com/office/powerpoint/2010/main" val="2522433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1CBB3-3A65-3A7E-7217-4475DF1F03A2}"/>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7209C644-B3B9-103E-5DD9-2822167B7623}"/>
              </a:ext>
            </a:extLst>
          </p:cNvPr>
          <p:cNvSpPr>
            <a:spLocks noGrp="1"/>
          </p:cNvSpPr>
          <p:nvPr>
            <p:ph type="title"/>
          </p:nvPr>
        </p:nvSpPr>
        <p:spPr/>
        <p:txBody>
          <a:bodyPr/>
          <a:lstStyle/>
          <a:p>
            <a:r>
              <a:rPr lang="ro-RO" dirty="0">
                <a:solidFill>
                  <a:srgbClr val="FF0000"/>
                </a:solidFill>
              </a:rPr>
              <a:t>PITYRIASIS RUBRA PILARIS (caz roșu „Mergi la doctor”)</a:t>
            </a:r>
          </a:p>
        </p:txBody>
      </p:sp>
      <p:sp>
        <p:nvSpPr>
          <p:cNvPr id="3" name="Substituent conținut 2">
            <a:extLst>
              <a:ext uri="{FF2B5EF4-FFF2-40B4-BE49-F238E27FC236}">
                <a16:creationId xmlns:a16="http://schemas.microsoft.com/office/drawing/2014/main" id="{65094C19-29CE-16C6-7657-ED66BAEB72BF}"/>
              </a:ext>
            </a:extLst>
          </p:cNvPr>
          <p:cNvSpPr>
            <a:spLocks noGrp="1"/>
          </p:cNvSpPr>
          <p:nvPr>
            <p:ph idx="1"/>
          </p:nvPr>
        </p:nvSpPr>
        <p:spPr>
          <a:xfrm>
            <a:off x="1141413" y="2249487"/>
            <a:ext cx="10696626" cy="3541714"/>
          </a:xfrm>
        </p:spPr>
        <p:txBody>
          <a:bodyPr>
            <a:normAutofit/>
          </a:bodyPr>
          <a:lstStyle/>
          <a:p>
            <a:pPr marL="0" indent="0">
              <a:buNone/>
            </a:pPr>
            <a:r>
              <a:rPr lang="ro-RO" dirty="0" err="1">
                <a:latin typeface="Calibri" panose="020F0502020204030204" pitchFamily="34" charset="0"/>
                <a:ea typeface="Calibri" panose="020F0502020204030204" pitchFamily="34" charset="0"/>
                <a:cs typeface="Calibri" panose="020F0502020204030204" pitchFamily="34" charset="0"/>
              </a:rPr>
              <a:t>Pityriasis</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rubra</a:t>
            </a:r>
            <a:r>
              <a:rPr lang="ro-RO" dirty="0">
                <a:latin typeface="Calibri" panose="020F0502020204030204" pitchFamily="34" charset="0"/>
                <a:ea typeface="Calibri" panose="020F0502020204030204" pitchFamily="34" charset="0"/>
                <a:cs typeface="Calibri" panose="020F0502020204030204" pitchFamily="34" charset="0"/>
              </a:rPr>
              <a:t> </a:t>
            </a:r>
            <a:r>
              <a:rPr lang="ro-RO" dirty="0" err="1">
                <a:latin typeface="Calibri" panose="020F0502020204030204" pitchFamily="34" charset="0"/>
                <a:ea typeface="Calibri" panose="020F0502020204030204" pitchFamily="34" charset="0"/>
                <a:cs typeface="Calibri" panose="020F0502020204030204" pitchFamily="34" charset="0"/>
              </a:rPr>
              <a:t>pilaris</a:t>
            </a:r>
            <a:r>
              <a:rPr lang="ro-RO" dirty="0">
                <a:latin typeface="Calibri" panose="020F0502020204030204" pitchFamily="34" charset="0"/>
                <a:ea typeface="Calibri" panose="020F0502020204030204" pitchFamily="34" charset="0"/>
                <a:cs typeface="Calibri" panose="020F0502020204030204" pitchFamily="34" charset="0"/>
              </a:rPr>
              <a:t> (PRP) este o </a:t>
            </a:r>
            <a:r>
              <a:rPr lang="ro-RO" b="1" dirty="0">
                <a:latin typeface="Calibri" panose="020F0502020204030204" pitchFamily="34" charset="0"/>
                <a:ea typeface="Calibri" panose="020F0502020204030204" pitchFamily="34" charset="0"/>
                <a:cs typeface="Calibri" panose="020F0502020204030204" pitchFamily="34" charset="0"/>
              </a:rPr>
              <a:t>afecțiune inflamatorie cronică rară</a:t>
            </a:r>
            <a:r>
              <a:rPr lang="ro-RO" dirty="0">
                <a:latin typeface="Calibri" panose="020F0502020204030204" pitchFamily="34" charset="0"/>
                <a:ea typeface="Calibri" panose="020F0502020204030204" pitchFamily="34" charset="0"/>
                <a:cs typeface="Calibri" panose="020F0502020204030204" pitchFamily="34" charset="0"/>
              </a:rPr>
              <a:t> caracterizată prin </a:t>
            </a:r>
            <a:r>
              <a:rPr lang="ro-RO" b="1" dirty="0">
                <a:latin typeface="Calibri" panose="020F0502020204030204" pitchFamily="34" charset="0"/>
                <a:ea typeface="Calibri" panose="020F0502020204030204" pitchFamily="34" charset="0"/>
                <a:cs typeface="Calibri" panose="020F0502020204030204" pitchFamily="34" charset="0"/>
              </a:rPr>
              <a:t>foliculi </a:t>
            </a:r>
            <a:r>
              <a:rPr lang="ro-RO" b="1" dirty="0" err="1">
                <a:latin typeface="Calibri" panose="020F0502020204030204" pitchFamily="34" charset="0"/>
                <a:ea typeface="Calibri" panose="020F0502020204030204" pitchFamily="34" charset="0"/>
                <a:cs typeface="Calibri" panose="020F0502020204030204" pitchFamily="34" charset="0"/>
              </a:rPr>
              <a:t>pilari</a:t>
            </a:r>
            <a:r>
              <a:rPr lang="ro-RO" b="1" dirty="0">
                <a:latin typeface="Calibri" panose="020F0502020204030204" pitchFamily="34" charset="0"/>
                <a:ea typeface="Calibri" panose="020F0502020204030204" pitchFamily="34" charset="0"/>
                <a:cs typeface="Calibri" panose="020F0502020204030204" pitchFamily="34" charset="0"/>
              </a:rPr>
              <a:t> </a:t>
            </a:r>
            <a:r>
              <a:rPr lang="ro-RO" b="1" dirty="0" err="1">
                <a:latin typeface="Calibri" panose="020F0502020204030204" pitchFamily="34" charset="0"/>
                <a:ea typeface="Calibri" panose="020F0502020204030204" pitchFamily="34" charset="0"/>
                <a:cs typeface="Calibri" panose="020F0502020204030204" pitchFamily="34" charset="0"/>
              </a:rPr>
              <a:t>hiperkeratozici</a:t>
            </a:r>
            <a:r>
              <a:rPr lang="ro-RO" b="1" dirty="0">
                <a:latin typeface="Calibri" panose="020F0502020204030204" pitchFamily="34" charset="0"/>
                <a:ea typeface="Calibri" panose="020F0502020204030204" pitchFamily="34" charset="0"/>
                <a:cs typeface="Calibri" panose="020F0502020204030204" pitchFamily="34" charset="0"/>
              </a:rPr>
              <a:t> (îngroșați), mici papule roșii-portocalii și zone de eritem</a:t>
            </a:r>
            <a:r>
              <a:rPr lang="ro-RO" dirty="0">
                <a:latin typeface="Calibri" panose="020F0502020204030204" pitchFamily="34" charset="0"/>
                <a:ea typeface="Calibri" panose="020F0502020204030204" pitchFamily="34" charset="0"/>
                <a:cs typeface="Calibri" panose="020F0502020204030204" pitchFamily="34" charset="0"/>
              </a:rPr>
              <a:t> ("roșeață") extinse. </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Deseori, lasă o zonă de piele "normală" (insule de piele sănătoasă) în mijlocul leziunilor. Poate evolua spre eritrodermie (roșeață generalizată) și necesită un tratament sistemic complex.</a:t>
            </a:r>
          </a:p>
        </p:txBody>
      </p:sp>
    </p:spTree>
    <p:extLst>
      <p:ext uri="{BB962C8B-B14F-4D97-AF65-F5344CB8AC3E}">
        <p14:creationId xmlns:p14="http://schemas.microsoft.com/office/powerpoint/2010/main" val="2626110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2CB45B0-7426-08E5-1A16-2F9853B5E2A4}"/>
              </a:ext>
            </a:extLst>
          </p:cNvPr>
          <p:cNvSpPr>
            <a:spLocks noGrp="1"/>
          </p:cNvSpPr>
          <p:nvPr>
            <p:ph type="title"/>
          </p:nvPr>
        </p:nvSpPr>
        <p:spPr/>
        <p:txBody>
          <a:bodyPr/>
          <a:lstStyle/>
          <a:p>
            <a:r>
              <a:rPr lang="ro-RO" dirty="0"/>
              <a:t>Mic glosar medical</a:t>
            </a:r>
          </a:p>
        </p:txBody>
      </p:sp>
      <p:graphicFrame>
        <p:nvGraphicFramePr>
          <p:cNvPr id="4" name="Substituent conținut 3">
            <a:extLst>
              <a:ext uri="{FF2B5EF4-FFF2-40B4-BE49-F238E27FC236}">
                <a16:creationId xmlns:a16="http://schemas.microsoft.com/office/drawing/2014/main" id="{FA497288-EB91-25C9-E64F-83BF16727AAA}"/>
              </a:ext>
            </a:extLst>
          </p:cNvPr>
          <p:cNvGraphicFramePr>
            <a:graphicFrameLocks noGrp="1"/>
          </p:cNvGraphicFramePr>
          <p:nvPr>
            <p:ph idx="1"/>
            <p:extLst>
              <p:ext uri="{D42A27DB-BD31-4B8C-83A1-F6EECF244321}">
                <p14:modId xmlns:p14="http://schemas.microsoft.com/office/powerpoint/2010/main" val="1180697971"/>
              </p:ext>
            </p:extLst>
          </p:nvPr>
        </p:nvGraphicFramePr>
        <p:xfrm>
          <a:off x="1991523" y="1702112"/>
          <a:ext cx="7732580" cy="4537370"/>
        </p:xfrm>
        <a:graphic>
          <a:graphicData uri="http://schemas.openxmlformats.org/drawingml/2006/table">
            <a:tbl>
              <a:tblPr>
                <a:tableStyleId>{3C2FFA5D-87B4-456A-9821-1D502468CF0F}</a:tableStyleId>
              </a:tblPr>
              <a:tblGrid>
                <a:gridCol w="3866290">
                  <a:extLst>
                    <a:ext uri="{9D8B030D-6E8A-4147-A177-3AD203B41FA5}">
                      <a16:colId xmlns:a16="http://schemas.microsoft.com/office/drawing/2014/main" val="907332893"/>
                    </a:ext>
                  </a:extLst>
                </a:gridCol>
                <a:gridCol w="3866290">
                  <a:extLst>
                    <a:ext uri="{9D8B030D-6E8A-4147-A177-3AD203B41FA5}">
                      <a16:colId xmlns:a16="http://schemas.microsoft.com/office/drawing/2014/main" val="3477548699"/>
                    </a:ext>
                  </a:extLst>
                </a:gridCol>
              </a:tblGrid>
              <a:tr h="291534">
                <a:tc>
                  <a:txBody>
                    <a:bodyPr/>
                    <a:lstStyle/>
                    <a:p>
                      <a:pPr rtl="0">
                        <a:buNone/>
                      </a:pPr>
                      <a:r>
                        <a:rPr lang="ro-RO" sz="1100" b="1"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TERMEN</a:t>
                      </a:r>
                      <a:endParaRPr lang="ro-RO" sz="1100" dirty="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b="1"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DEFINIȚIE SCURTĂ</a:t>
                      </a:r>
                      <a:endParaRPr lang="ro-RO" sz="1100" dirty="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extLst>
                  <a:ext uri="{0D108BD9-81ED-4DB2-BD59-A6C34878D82A}">
                    <a16:rowId xmlns:a16="http://schemas.microsoft.com/office/drawing/2014/main" val="3694483653"/>
                  </a:ext>
                </a:extLst>
              </a:tr>
              <a:tr h="494288">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Eritem</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Roșeață a pielii cauzată de inflamație sau dilatarea vaselor de sânge.</a:t>
                      </a:r>
                    </a:p>
                  </a:txBody>
                  <a:tcPr marL="55053" marR="55053" marT="36702" marB="36702" anchor="ctr"/>
                </a:tc>
                <a:extLst>
                  <a:ext uri="{0D108BD9-81ED-4DB2-BD59-A6C34878D82A}">
                    <a16:rowId xmlns:a16="http://schemas.microsoft.com/office/drawing/2014/main" val="2116116498"/>
                  </a:ext>
                </a:extLst>
              </a:tr>
              <a:tr h="494288">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Scuamă</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Fragment vizibil de epidermă descuamată (cojițe), rezultat din exfolierea pielii.</a:t>
                      </a:r>
                    </a:p>
                  </a:txBody>
                  <a:tcPr marL="55053" marR="55053" marT="36702" marB="36702" anchor="ctr"/>
                </a:tc>
                <a:extLst>
                  <a:ext uri="{0D108BD9-81ED-4DB2-BD59-A6C34878D82A}">
                    <a16:rowId xmlns:a16="http://schemas.microsoft.com/office/drawing/2014/main" val="4171132457"/>
                  </a:ext>
                </a:extLst>
              </a:tr>
              <a:tr h="494288">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Cutanat/Cutanate</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fr-FR"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Care ține de piele sau se referă la piele (de exemplu, erupție cutanată).</a:t>
                      </a:r>
                    </a:p>
                  </a:txBody>
                  <a:tcPr marL="55053" marR="55053" marT="36702" marB="36702" anchor="ctr"/>
                </a:tc>
                <a:extLst>
                  <a:ext uri="{0D108BD9-81ED-4DB2-BD59-A6C34878D82A}">
                    <a16:rowId xmlns:a16="http://schemas.microsoft.com/office/drawing/2014/main" val="4182984694"/>
                  </a:ext>
                </a:extLst>
              </a:tr>
              <a:tr h="291534">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Prurit</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Senzație de mâncărime.</a:t>
                      </a:r>
                    </a:p>
                  </a:txBody>
                  <a:tcPr marL="55053" marR="55053" marT="36702" marB="36702" anchor="ctr"/>
                </a:tc>
                <a:extLst>
                  <a:ext uri="{0D108BD9-81ED-4DB2-BD59-A6C34878D82A}">
                    <a16:rowId xmlns:a16="http://schemas.microsoft.com/office/drawing/2014/main" val="3816564378"/>
                  </a:ext>
                </a:extLst>
              </a:tr>
              <a:tr h="494288">
                <a:tc>
                  <a:txBody>
                    <a:bodyPr/>
                    <a:lstStyle/>
                    <a:p>
                      <a:pPr rtl="0">
                        <a:buNone/>
                      </a:pPr>
                      <a:r>
                        <a:rPr lang="ro-RO" sz="1100" b="1" dirty="0" err="1">
                          <a:solidFill>
                            <a:srgbClr val="1B1C1D"/>
                          </a:solidFill>
                          <a:effectLst/>
                          <a:latin typeface="Calibri" panose="020F0502020204030204" pitchFamily="34" charset="0"/>
                          <a:ea typeface="Calibri" panose="020F0502020204030204" pitchFamily="34" charset="0"/>
                          <a:cs typeface="Calibri" panose="020F0502020204030204" pitchFamily="34" charset="0"/>
                        </a:rPr>
                        <a:t>Remisie</a:t>
                      </a:r>
                      <a:endParaRPr lang="ro-RO" sz="1100" dirty="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Perioadă în care simptomele unei boli cronice se ameliorează sau dispar temporar.</a:t>
                      </a:r>
                    </a:p>
                  </a:txBody>
                  <a:tcPr marL="55053" marR="55053" marT="36702" marB="36702" anchor="ctr"/>
                </a:tc>
                <a:extLst>
                  <a:ext uri="{0D108BD9-81ED-4DB2-BD59-A6C34878D82A}">
                    <a16:rowId xmlns:a16="http://schemas.microsoft.com/office/drawing/2014/main" val="1901108836"/>
                  </a:ext>
                </a:extLst>
              </a:tr>
              <a:tr h="697041">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Levură</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Ciupercă microscopică unicelulară (ex: Malassezia), adesea implicată în infecții sau inflamații ale pielii.</a:t>
                      </a:r>
                    </a:p>
                  </a:txBody>
                  <a:tcPr marL="55053" marR="55053" marT="36702" marB="36702" anchor="ctr"/>
                </a:tc>
                <a:extLst>
                  <a:ext uri="{0D108BD9-81ED-4DB2-BD59-A6C34878D82A}">
                    <a16:rowId xmlns:a16="http://schemas.microsoft.com/office/drawing/2014/main" val="2217563713"/>
                  </a:ext>
                </a:extLst>
              </a:tr>
              <a:tr h="697041">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Striații Wickham</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Rețea fină, albicioasă, observată pe suprafața leziunilor de Lichen Plan (adesea pe mucoasa bucală).</a:t>
                      </a:r>
                    </a:p>
                  </a:txBody>
                  <a:tcPr marL="55053" marR="55053" marT="36702" marB="36702" anchor="ctr"/>
                </a:tc>
                <a:extLst>
                  <a:ext uri="{0D108BD9-81ED-4DB2-BD59-A6C34878D82A}">
                    <a16:rowId xmlns:a16="http://schemas.microsoft.com/office/drawing/2014/main" val="4018526902"/>
                  </a:ext>
                </a:extLst>
              </a:tr>
              <a:tr h="291534">
                <a:tc>
                  <a:txBody>
                    <a:bodyPr/>
                    <a:lstStyle/>
                    <a:p>
                      <a:pPr rtl="0">
                        <a:buNone/>
                      </a:pPr>
                      <a:r>
                        <a:rPr lang="ro-RO" sz="1100" b="1">
                          <a:solidFill>
                            <a:srgbClr val="1B1C1D"/>
                          </a:solidFill>
                          <a:effectLst/>
                          <a:latin typeface="Calibri" panose="020F0502020204030204" pitchFamily="34" charset="0"/>
                          <a:ea typeface="Calibri" panose="020F0502020204030204" pitchFamily="34" charset="0"/>
                          <a:cs typeface="Calibri" panose="020F0502020204030204" pitchFamily="34" charset="0"/>
                        </a:rPr>
                        <a:t>Reticulat</a:t>
                      </a:r>
                      <a:endPar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ro-RO" sz="1100">
                          <a:solidFill>
                            <a:srgbClr val="1B1C1D"/>
                          </a:solidFill>
                          <a:effectLst/>
                          <a:latin typeface="Calibri" panose="020F0502020204030204" pitchFamily="34" charset="0"/>
                          <a:ea typeface="Calibri" panose="020F0502020204030204" pitchFamily="34" charset="0"/>
                          <a:cs typeface="Calibri" panose="020F0502020204030204" pitchFamily="34" charset="0"/>
                        </a:rPr>
                        <a:t>Care are aspect de rețea sau plasă.</a:t>
                      </a:r>
                    </a:p>
                  </a:txBody>
                  <a:tcPr marL="55053" marR="55053" marT="36702" marB="36702" anchor="ctr"/>
                </a:tc>
                <a:extLst>
                  <a:ext uri="{0D108BD9-81ED-4DB2-BD59-A6C34878D82A}">
                    <a16:rowId xmlns:a16="http://schemas.microsoft.com/office/drawing/2014/main" val="1714011869"/>
                  </a:ext>
                </a:extLst>
              </a:tr>
              <a:tr h="291534">
                <a:tc>
                  <a:txBody>
                    <a:bodyPr/>
                    <a:lstStyle/>
                    <a:p>
                      <a:pPr rtl="0">
                        <a:buNone/>
                      </a:pPr>
                      <a:r>
                        <a:rPr lang="ro-RO" sz="1100" b="1" dirty="0" err="1">
                          <a:solidFill>
                            <a:srgbClr val="1B1C1D"/>
                          </a:solidFill>
                          <a:effectLst/>
                          <a:latin typeface="Calibri" panose="020F0502020204030204" pitchFamily="34" charset="0"/>
                          <a:ea typeface="Calibri" panose="020F0502020204030204" pitchFamily="34" charset="0"/>
                          <a:cs typeface="Calibri" panose="020F0502020204030204" pitchFamily="34" charset="0"/>
                        </a:rPr>
                        <a:t>Grataj</a:t>
                      </a:r>
                      <a:endParaRPr lang="ro-RO" sz="1100" dirty="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L="55053" marR="55053" marT="36702" marB="36702" anchor="ctr"/>
                </a:tc>
                <a:tc>
                  <a:txBody>
                    <a:bodyPr/>
                    <a:lstStyle/>
                    <a:p>
                      <a:pPr rtl="0">
                        <a:buNone/>
                      </a:pPr>
                      <a:r>
                        <a:rPr lang="it-IT" sz="1100"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Acțiunea de scărpinare a pielii.</a:t>
                      </a:r>
                    </a:p>
                  </a:txBody>
                  <a:tcPr marL="55053" marR="55053" marT="36702" marB="36702" anchor="ctr"/>
                </a:tc>
                <a:extLst>
                  <a:ext uri="{0D108BD9-81ED-4DB2-BD59-A6C34878D82A}">
                    <a16:rowId xmlns:a16="http://schemas.microsoft.com/office/drawing/2014/main" val="1214639343"/>
                  </a:ext>
                </a:extLst>
              </a:tr>
            </a:tbl>
          </a:graphicData>
        </a:graphic>
      </p:graphicFrame>
    </p:spTree>
    <p:extLst>
      <p:ext uri="{BB962C8B-B14F-4D97-AF65-F5344CB8AC3E}">
        <p14:creationId xmlns:p14="http://schemas.microsoft.com/office/powerpoint/2010/main" val="1320511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C1E96FB-119B-FF8A-F9B3-DED4B1D133F6}"/>
              </a:ext>
            </a:extLst>
          </p:cNvPr>
          <p:cNvSpPr>
            <a:spLocks noGrp="1"/>
          </p:cNvSpPr>
          <p:nvPr>
            <p:ph type="title"/>
          </p:nvPr>
        </p:nvSpPr>
        <p:spPr/>
        <p:txBody>
          <a:bodyPr/>
          <a:lstStyle/>
          <a:p>
            <a:r>
              <a:rPr lang="ro-RO" dirty="0">
                <a:latin typeface="Calibri" panose="020F0502020204030204" pitchFamily="34" charset="0"/>
                <a:ea typeface="Calibri" panose="020F0502020204030204" pitchFamily="34" charset="0"/>
                <a:cs typeface="Calibri" panose="020F0502020204030204" pitchFamily="34" charset="0"/>
              </a:rPr>
              <a:t>STUDIU DE CAZ ACTUAL ȘI TENDINȚE</a:t>
            </a:r>
          </a:p>
        </p:txBody>
      </p:sp>
      <p:sp>
        <p:nvSpPr>
          <p:cNvPr id="3" name="Substituent conținut 2">
            <a:extLst>
              <a:ext uri="{FF2B5EF4-FFF2-40B4-BE49-F238E27FC236}">
                <a16:creationId xmlns:a16="http://schemas.microsoft.com/office/drawing/2014/main" id="{A517CBE2-D469-4050-FCD1-9858E84669A3}"/>
              </a:ext>
            </a:extLst>
          </p:cNvPr>
          <p:cNvSpPr>
            <a:spLocks noGrp="1"/>
          </p:cNvSpPr>
          <p:nvPr>
            <p:ph idx="1"/>
          </p:nvPr>
        </p:nvSpPr>
        <p:spPr/>
        <p:txBody>
          <a:bodyPr/>
          <a:lstStyle/>
          <a:p>
            <a:r>
              <a:rPr lang="ro-RO" b="1" dirty="0">
                <a:latin typeface="Calibri" panose="020F0502020204030204" pitchFamily="34" charset="0"/>
                <a:ea typeface="Calibri" panose="020F0502020204030204" pitchFamily="34" charset="0"/>
                <a:cs typeface="Calibri" panose="020F0502020204030204" pitchFamily="34" charset="0"/>
              </a:rPr>
              <a:t>Provocarea:</a:t>
            </a:r>
            <a:r>
              <a:rPr lang="ro-RO" dirty="0">
                <a:latin typeface="Calibri" panose="020F0502020204030204" pitchFamily="34" charset="0"/>
                <a:ea typeface="Calibri" panose="020F0502020204030204" pitchFamily="34" charset="0"/>
                <a:cs typeface="Calibri" panose="020F0502020204030204" pitchFamily="34" charset="0"/>
              </a:rPr>
              <a:t> Diagnosticul diferențial al bolilor </a:t>
            </a:r>
            <a:r>
              <a:rPr lang="ro-RO" dirty="0" err="1">
                <a:latin typeface="Calibri" panose="020F0502020204030204" pitchFamily="34" charset="0"/>
                <a:ea typeface="Calibri" panose="020F0502020204030204" pitchFamily="34" charset="0"/>
                <a:cs typeface="Calibri" panose="020F0502020204030204" pitchFamily="34" charset="0"/>
              </a:rPr>
              <a:t>eritremato-scuamoase</a:t>
            </a:r>
            <a:r>
              <a:rPr lang="ro-RO" dirty="0">
                <a:latin typeface="Calibri" panose="020F0502020204030204" pitchFamily="34" charset="0"/>
                <a:ea typeface="Calibri" panose="020F0502020204030204" pitchFamily="34" charset="0"/>
                <a:cs typeface="Calibri" panose="020F0502020204030204" pitchFamily="34" charset="0"/>
              </a:rPr>
              <a:t> (Psoriazis, Dermatită Seboreică etc.) este dificil chiar și pentru medici, din cauza simptomelor care se suprapun. Biopsia (histopatologia) este adesea necesară, dar este invazivă și costisitoare.</a:t>
            </a:r>
          </a:p>
          <a:p>
            <a:r>
              <a:rPr lang="ro-RO" b="1" dirty="0">
                <a:latin typeface="Calibri" panose="020F0502020204030204" pitchFamily="34" charset="0"/>
                <a:ea typeface="Calibri" panose="020F0502020204030204" pitchFamily="34" charset="0"/>
                <a:cs typeface="Calibri" panose="020F0502020204030204" pitchFamily="34" charset="0"/>
              </a:rPr>
              <a:t>Tendința:</a:t>
            </a:r>
            <a:r>
              <a:rPr lang="ro-RO" dirty="0">
                <a:latin typeface="Calibri" panose="020F0502020204030204" pitchFamily="34" charset="0"/>
                <a:ea typeface="Calibri" panose="020F0502020204030204" pitchFamily="34" charset="0"/>
                <a:cs typeface="Calibri" panose="020F0502020204030204" pitchFamily="34" charset="0"/>
              </a:rPr>
              <a:t> Utilizarea accelerată a AI în dermatologie (ex. clasificarea melanomului din imagini sau sisteme de diagnostic clinic bazate pe date tabulare) pentru a oferi un </a:t>
            </a:r>
            <a:r>
              <a:rPr lang="ro-RO" b="1" dirty="0" err="1">
                <a:latin typeface="Calibri" panose="020F0502020204030204" pitchFamily="34" charset="0"/>
                <a:ea typeface="Calibri" panose="020F0502020204030204" pitchFamily="34" charset="0"/>
                <a:cs typeface="Calibri" panose="020F0502020204030204" pitchFamily="34" charset="0"/>
              </a:rPr>
              <a:t>triage</a:t>
            </a:r>
            <a:r>
              <a:rPr lang="ro-RO" b="1" dirty="0">
                <a:latin typeface="Calibri" panose="020F0502020204030204" pitchFamily="34" charset="0"/>
                <a:ea typeface="Calibri" panose="020F0502020204030204" pitchFamily="34" charset="0"/>
                <a:cs typeface="Calibri" panose="020F0502020204030204" pitchFamily="34" charset="0"/>
              </a:rPr>
              <a:t> rapid</a:t>
            </a:r>
            <a:r>
              <a:rPr lang="ro-RO" dirty="0">
                <a:latin typeface="Calibri" panose="020F0502020204030204" pitchFamily="34" charset="0"/>
                <a:ea typeface="Calibri" panose="020F0502020204030204" pitchFamily="34" charset="0"/>
                <a:cs typeface="Calibri" panose="020F0502020204030204" pitchFamily="34" charset="0"/>
              </a:rPr>
              <a:t> și a reduce timpul până la diagnostic.</a:t>
            </a:r>
          </a:p>
        </p:txBody>
      </p:sp>
    </p:spTree>
    <p:extLst>
      <p:ext uri="{BB962C8B-B14F-4D97-AF65-F5344CB8AC3E}">
        <p14:creationId xmlns:p14="http://schemas.microsoft.com/office/powerpoint/2010/main" val="568466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53D8471-B10D-9856-E495-F5758F4452DE}"/>
              </a:ext>
            </a:extLst>
          </p:cNvPr>
          <p:cNvSpPr>
            <a:spLocks noGrp="1"/>
          </p:cNvSpPr>
          <p:nvPr>
            <p:ph type="title"/>
          </p:nvPr>
        </p:nvSpPr>
        <p:spPr/>
        <p:txBody>
          <a:bodyPr/>
          <a:lstStyle/>
          <a:p>
            <a:r>
              <a:rPr lang="ro-RO" dirty="0"/>
              <a:t>BENEFICII MĂSURABILE SIA</a:t>
            </a:r>
          </a:p>
        </p:txBody>
      </p:sp>
      <p:sp>
        <p:nvSpPr>
          <p:cNvPr id="3" name="Substituent conținut 2">
            <a:extLst>
              <a:ext uri="{FF2B5EF4-FFF2-40B4-BE49-F238E27FC236}">
                <a16:creationId xmlns:a16="http://schemas.microsoft.com/office/drawing/2014/main" id="{0D74A8C8-1367-FC14-0F9D-2BFCA4A6F555}"/>
              </a:ext>
            </a:extLst>
          </p:cNvPr>
          <p:cNvSpPr>
            <a:spLocks noGrp="1"/>
          </p:cNvSpPr>
          <p:nvPr>
            <p:ph idx="1"/>
          </p:nvPr>
        </p:nvSpPr>
        <p:spPr/>
        <p:txBody>
          <a:bodyPr>
            <a:normAutofit fontScale="92500"/>
          </a:bodyPr>
          <a:lstStyle/>
          <a:p>
            <a:r>
              <a:rPr lang="ro-RO" dirty="0"/>
              <a:t>Eficiență: </a:t>
            </a:r>
            <a:r>
              <a:rPr lang="ro-RO" dirty="0" err="1"/>
              <a:t>Triage</a:t>
            </a:r>
            <a:r>
              <a:rPr lang="ro-RO" dirty="0"/>
              <a:t> mai rapid pentru pacienți, indicând rapid necesitatea unei vizite urgente la specialist.</a:t>
            </a:r>
          </a:p>
          <a:p>
            <a:r>
              <a:rPr lang="ro-RO" dirty="0"/>
              <a:t>Suport Clinic: Oferă medicilor de familie/generaliști un instrument de asistență (aici intervine clasificarea Top 3 cu procente).</a:t>
            </a:r>
          </a:p>
          <a:p>
            <a:r>
              <a:rPr lang="ro-RO" dirty="0"/>
              <a:t>Supraveghere Epidemică: Funcția de alertă "Epidemii actuale" oferă un instrument de sănătate publică prin monitorizarea focarelor de boli infecțioase sau cu transmitere rapidă (deși setul UCI nu conține doar boli transmisibile, logica este valabilă).</a:t>
            </a:r>
          </a:p>
        </p:txBody>
      </p:sp>
    </p:spTree>
    <p:extLst>
      <p:ext uri="{BB962C8B-B14F-4D97-AF65-F5344CB8AC3E}">
        <p14:creationId xmlns:p14="http://schemas.microsoft.com/office/powerpoint/2010/main" val="112459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7BDBBA3-85B0-CD8C-CDC5-231ABC4E5CD3}"/>
              </a:ext>
            </a:extLst>
          </p:cNvPr>
          <p:cNvSpPr>
            <a:spLocks noGrp="1"/>
          </p:cNvSpPr>
          <p:nvPr>
            <p:ph type="title"/>
          </p:nvPr>
        </p:nvSpPr>
        <p:spPr/>
        <p:txBody>
          <a:bodyPr/>
          <a:lstStyle/>
          <a:p>
            <a:r>
              <a:rPr lang="ro-RO" dirty="0"/>
              <a:t>SURSE RELEVANTE</a:t>
            </a:r>
          </a:p>
        </p:txBody>
      </p:sp>
      <p:sp>
        <p:nvSpPr>
          <p:cNvPr id="3" name="Substituent conținut 2">
            <a:extLst>
              <a:ext uri="{FF2B5EF4-FFF2-40B4-BE49-F238E27FC236}">
                <a16:creationId xmlns:a16="http://schemas.microsoft.com/office/drawing/2014/main" id="{D7232B43-3801-F024-B8AA-D9B31B3DF2F9}"/>
              </a:ext>
            </a:extLst>
          </p:cNvPr>
          <p:cNvSpPr>
            <a:spLocks noGrp="1"/>
          </p:cNvSpPr>
          <p:nvPr>
            <p:ph idx="1"/>
          </p:nvPr>
        </p:nvSpPr>
        <p:spPr/>
        <p:txBody>
          <a:bodyPr>
            <a:normAutofit fontScale="92500" lnSpcReduction="10000"/>
          </a:bodyPr>
          <a:lstStyle/>
          <a:p>
            <a:r>
              <a:rPr lang="ro-RO" dirty="0"/>
              <a:t>SETUL DE DATE UCI DERMATOLOGY: </a:t>
            </a:r>
            <a:r>
              <a:rPr lang="en-US" dirty="0">
                <a:hlinkClick r:id="rId2"/>
              </a:rPr>
              <a:t>Dermatology - UCI Machine Learning Repository</a:t>
            </a:r>
            <a:endParaRPr lang="ro-RO" dirty="0"/>
          </a:p>
          <a:p>
            <a:r>
              <a:rPr lang="ro-RO" dirty="0"/>
              <a:t>STUDIU APLICATIV AL REȚELELOR NEURONALE PENTRU CLASIFICAREA BOLILOR DERMATOLOGICE: </a:t>
            </a:r>
            <a:r>
              <a:rPr lang="en-US" dirty="0">
                <a:hlinkClick r:id="rId3"/>
              </a:rPr>
              <a:t>(PDF) An Empirical Study of Applying Artificial Neural Network for Classification of Dermatology Disease</a:t>
            </a:r>
            <a:endParaRPr lang="ro-RO" dirty="0"/>
          </a:p>
          <a:p>
            <a:r>
              <a:rPr lang="ro-RO" dirty="0"/>
              <a:t>STUDIU GENERAL IA ÎN DERMATOLOGIE: </a:t>
            </a:r>
            <a:r>
              <a:rPr lang="ro-RO" dirty="0">
                <a:hlinkClick r:id="rId4"/>
              </a:rPr>
              <a:t>RMJ_2024_2_Art-05.pdf</a:t>
            </a:r>
            <a:endParaRPr lang="ro-RO" dirty="0"/>
          </a:p>
          <a:p>
            <a:r>
              <a:rPr lang="ro-RO" dirty="0"/>
              <a:t>ACURATEȚE ACTUALĂ DIAGNOSTICE: </a:t>
            </a:r>
            <a:r>
              <a:rPr lang="ro-RO" dirty="0" err="1">
                <a:hlinkClick r:id="rId5"/>
              </a:rPr>
              <a:t>Accuracy</a:t>
            </a:r>
            <a:r>
              <a:rPr lang="ro-RO" dirty="0">
                <a:hlinkClick r:id="rId5"/>
              </a:rPr>
              <a:t> of </a:t>
            </a:r>
            <a:r>
              <a:rPr lang="ro-RO" dirty="0" err="1">
                <a:hlinkClick r:id="rId5"/>
              </a:rPr>
              <a:t>dermoscopic</a:t>
            </a:r>
            <a:r>
              <a:rPr lang="ro-RO" dirty="0">
                <a:hlinkClick r:id="rId5"/>
              </a:rPr>
              <a:t> </a:t>
            </a:r>
            <a:r>
              <a:rPr lang="ro-RO" dirty="0" err="1">
                <a:hlinkClick r:id="rId5"/>
              </a:rPr>
              <a:t>criteria</a:t>
            </a:r>
            <a:r>
              <a:rPr lang="ro-RO" dirty="0">
                <a:hlinkClick r:id="rId5"/>
              </a:rPr>
              <a:t> for </a:t>
            </a:r>
            <a:r>
              <a:rPr lang="ro-RO" dirty="0" err="1">
                <a:hlinkClick r:id="rId5"/>
              </a:rPr>
              <a:t>the</a:t>
            </a:r>
            <a:r>
              <a:rPr lang="ro-RO" dirty="0">
                <a:hlinkClick r:id="rId5"/>
              </a:rPr>
              <a:t> </a:t>
            </a:r>
            <a:r>
              <a:rPr lang="ro-RO" dirty="0" err="1">
                <a:hlinkClick r:id="rId5"/>
              </a:rPr>
              <a:t>diagnosis</a:t>
            </a:r>
            <a:r>
              <a:rPr lang="ro-RO" dirty="0">
                <a:hlinkClick r:id="rId5"/>
              </a:rPr>
              <a:t> of </a:t>
            </a:r>
            <a:r>
              <a:rPr lang="ro-RO" dirty="0" err="1">
                <a:hlinkClick r:id="rId5"/>
              </a:rPr>
              <a:t>psoriasis</a:t>
            </a:r>
            <a:r>
              <a:rPr lang="ro-RO" dirty="0">
                <a:hlinkClick r:id="rId5"/>
              </a:rPr>
              <a:t>, </a:t>
            </a:r>
            <a:r>
              <a:rPr lang="ro-RO" dirty="0" err="1">
                <a:hlinkClick r:id="rId5"/>
              </a:rPr>
              <a:t>dermatitis</a:t>
            </a:r>
            <a:r>
              <a:rPr lang="ro-RO" dirty="0">
                <a:hlinkClick r:id="rId5"/>
              </a:rPr>
              <a:t>, lichen </a:t>
            </a:r>
            <a:r>
              <a:rPr lang="ro-RO" dirty="0" err="1">
                <a:hlinkClick r:id="rId5"/>
              </a:rPr>
              <a:t>planus</a:t>
            </a:r>
            <a:r>
              <a:rPr lang="ro-RO" dirty="0">
                <a:hlinkClick r:id="rId5"/>
              </a:rPr>
              <a:t> </a:t>
            </a:r>
            <a:r>
              <a:rPr lang="ro-RO" dirty="0" err="1">
                <a:hlinkClick r:id="rId5"/>
              </a:rPr>
              <a:t>and</a:t>
            </a:r>
            <a:r>
              <a:rPr lang="ro-RO" dirty="0">
                <a:hlinkClick r:id="rId5"/>
              </a:rPr>
              <a:t> </a:t>
            </a:r>
            <a:r>
              <a:rPr lang="ro-RO" dirty="0" err="1">
                <a:hlinkClick r:id="rId5"/>
              </a:rPr>
              <a:t>pityriasis</a:t>
            </a:r>
            <a:r>
              <a:rPr lang="ro-RO" dirty="0">
                <a:hlinkClick r:id="rId5"/>
              </a:rPr>
              <a:t> </a:t>
            </a:r>
            <a:r>
              <a:rPr lang="ro-RO" dirty="0" err="1">
                <a:hlinkClick r:id="rId5"/>
              </a:rPr>
              <a:t>rosea</a:t>
            </a:r>
            <a:r>
              <a:rPr lang="ro-RO" dirty="0">
                <a:hlinkClick r:id="rId5"/>
              </a:rPr>
              <a:t> - </a:t>
            </a:r>
            <a:r>
              <a:rPr lang="ro-RO" dirty="0" err="1">
                <a:hlinkClick r:id="rId5"/>
              </a:rPr>
              <a:t>PubMed</a:t>
            </a:r>
            <a:endParaRPr lang="ro-RO" dirty="0"/>
          </a:p>
          <a:p>
            <a:endParaRPr lang="ro-RO" dirty="0"/>
          </a:p>
        </p:txBody>
      </p:sp>
    </p:spTree>
    <p:extLst>
      <p:ext uri="{BB962C8B-B14F-4D97-AF65-F5344CB8AC3E}">
        <p14:creationId xmlns:p14="http://schemas.microsoft.com/office/powerpoint/2010/main" val="2911791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5A88595-EB0B-5111-1FEF-D9DB5F9A3013}"/>
              </a:ext>
            </a:extLst>
          </p:cNvPr>
          <p:cNvSpPr>
            <a:spLocks noGrp="1"/>
          </p:cNvSpPr>
          <p:nvPr>
            <p:ph type="title"/>
          </p:nvPr>
        </p:nvSpPr>
        <p:spPr/>
        <p:txBody>
          <a:bodyPr/>
          <a:lstStyle/>
          <a:p>
            <a:r>
              <a:rPr lang="ro-RO" dirty="0"/>
              <a:t>2. DESCRIEREA SISTEMULUI CU INTELIGENȚĂ ARTIFICIALĂ</a:t>
            </a:r>
          </a:p>
        </p:txBody>
      </p:sp>
      <p:pic>
        <p:nvPicPr>
          <p:cNvPr id="5122" name="Picture 2" descr="Where Will Artificial Intelligence Take Us In The Future?">
            <a:hlinkClick r:id="rId2"/>
            <a:extLst>
              <a:ext uri="{FF2B5EF4-FFF2-40B4-BE49-F238E27FC236}">
                <a16:creationId xmlns:a16="http://schemas.microsoft.com/office/drawing/2014/main" id="{E46B40C2-5486-3F2C-76E1-7832DF558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647" y="2097088"/>
            <a:ext cx="7706293" cy="4335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958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B6801B2-5240-E6E1-33AB-F198F736072E}"/>
              </a:ext>
            </a:extLst>
          </p:cNvPr>
          <p:cNvSpPr>
            <a:spLocks noGrp="1"/>
          </p:cNvSpPr>
          <p:nvPr>
            <p:ph type="title"/>
          </p:nvPr>
        </p:nvSpPr>
        <p:spPr/>
        <p:txBody>
          <a:bodyPr/>
          <a:lstStyle/>
          <a:p>
            <a:r>
              <a:rPr lang="ro-RO" dirty="0"/>
              <a:t>PROPUNERE SISTEM</a:t>
            </a:r>
          </a:p>
        </p:txBody>
      </p:sp>
      <p:sp>
        <p:nvSpPr>
          <p:cNvPr id="3" name="Substituent conținut 2">
            <a:extLst>
              <a:ext uri="{FF2B5EF4-FFF2-40B4-BE49-F238E27FC236}">
                <a16:creationId xmlns:a16="http://schemas.microsoft.com/office/drawing/2014/main" id="{63A228D1-A0F2-D74F-9181-1EFC616FA3B5}"/>
              </a:ext>
            </a:extLst>
          </p:cNvPr>
          <p:cNvSpPr>
            <a:spLocks noGrp="1"/>
          </p:cNvSpPr>
          <p:nvPr>
            <p:ph idx="1"/>
          </p:nvPr>
        </p:nvSpPr>
        <p:spPr/>
        <p:txBody>
          <a:bodyPr/>
          <a:lstStyle/>
          <a:p>
            <a:r>
              <a:rPr lang="ro-RO" dirty="0">
                <a:latin typeface="Calibri" panose="020F0502020204030204" pitchFamily="34" charset="0"/>
                <a:ea typeface="Calibri" panose="020F0502020204030204" pitchFamily="34" charset="0"/>
                <a:cs typeface="Calibri" panose="020F0502020204030204" pitchFamily="34" charset="0"/>
              </a:rPr>
              <a:t>Sistemul propus, </a:t>
            </a:r>
            <a:r>
              <a:rPr lang="ro-RO" b="1" dirty="0" err="1">
                <a:latin typeface="Calibri" panose="020F0502020204030204" pitchFamily="34" charset="0"/>
                <a:ea typeface="Calibri" panose="020F0502020204030204" pitchFamily="34" charset="0"/>
                <a:cs typeface="Calibri" panose="020F0502020204030204" pitchFamily="34" charset="0"/>
              </a:rPr>
              <a:t>UnderMyAISkin</a:t>
            </a:r>
            <a:r>
              <a:rPr lang="ro-RO" dirty="0">
                <a:latin typeface="Calibri" panose="020F0502020204030204" pitchFamily="34" charset="0"/>
                <a:ea typeface="Calibri" panose="020F0502020204030204" pitchFamily="34" charset="0"/>
                <a:cs typeface="Calibri" panose="020F0502020204030204" pitchFamily="34" charset="0"/>
              </a:rPr>
              <a:t>, este o aplicație de </a:t>
            </a:r>
            <a:r>
              <a:rPr lang="ro-RO" b="1" dirty="0" err="1">
                <a:latin typeface="Calibri" panose="020F0502020204030204" pitchFamily="34" charset="0"/>
                <a:ea typeface="Calibri" panose="020F0502020204030204" pitchFamily="34" charset="0"/>
                <a:cs typeface="Calibri" panose="020F0502020204030204" pitchFamily="34" charset="0"/>
              </a:rPr>
              <a:t>triage</a:t>
            </a:r>
            <a:r>
              <a:rPr lang="ro-RO" b="1" dirty="0">
                <a:latin typeface="Calibri" panose="020F0502020204030204" pitchFamily="34" charset="0"/>
                <a:ea typeface="Calibri" panose="020F0502020204030204" pitchFamily="34" charset="0"/>
                <a:cs typeface="Calibri" panose="020F0502020204030204" pitchFamily="34" charset="0"/>
              </a:rPr>
              <a:t> clinic non-invaziv </a:t>
            </a:r>
            <a:r>
              <a:rPr lang="ro-RO" dirty="0">
                <a:latin typeface="Calibri" panose="020F0502020204030204" pitchFamily="34" charset="0"/>
                <a:ea typeface="Calibri" panose="020F0502020204030204" pitchFamily="34" charset="0"/>
                <a:cs typeface="Calibri" panose="020F0502020204030204" pitchFamily="34" charset="0"/>
              </a:rPr>
              <a:t>în domeniul Dermatologiei (DII: </a:t>
            </a:r>
            <a:r>
              <a:rPr lang="ro-RO" b="1" dirty="0">
                <a:latin typeface="Calibri" panose="020F0502020204030204" pitchFamily="34" charset="0"/>
                <a:ea typeface="Calibri" panose="020F0502020204030204" pitchFamily="34" charset="0"/>
                <a:cs typeface="Calibri" panose="020F0502020204030204" pitchFamily="34" charset="0"/>
              </a:rPr>
              <a:t>Sănătate Digitală</a:t>
            </a:r>
            <a:r>
              <a:rPr lang="ro-RO" dirty="0">
                <a:latin typeface="Calibri" panose="020F0502020204030204" pitchFamily="34" charset="0"/>
                <a:ea typeface="Calibri" panose="020F0502020204030204" pitchFamily="34" charset="0"/>
                <a:cs typeface="Calibri" panose="020F0502020204030204" pitchFamily="34" charset="0"/>
              </a:rPr>
              <a:t>). Acesta are ca scop furnizarea rapidă a unui pre-diagnostic probabilist pentru cele 6 boli </a:t>
            </a:r>
            <a:r>
              <a:rPr lang="ro-RO" dirty="0" err="1">
                <a:latin typeface="Calibri" panose="020F0502020204030204" pitchFamily="34" charset="0"/>
                <a:ea typeface="Calibri" panose="020F0502020204030204" pitchFamily="34" charset="0"/>
                <a:cs typeface="Calibri" panose="020F0502020204030204" pitchFamily="34" charset="0"/>
              </a:rPr>
              <a:t>eritremato-scuamoase</a:t>
            </a:r>
            <a:r>
              <a:rPr lang="ro-RO" dirty="0">
                <a:latin typeface="Calibri" panose="020F0502020204030204" pitchFamily="34" charset="0"/>
                <a:ea typeface="Calibri" panose="020F0502020204030204" pitchFamily="34" charset="0"/>
                <a:cs typeface="Calibri" panose="020F0502020204030204" pitchFamily="34" charset="0"/>
              </a:rPr>
              <a:t> din setul de date UCI, bazat exclusiv pe simptomele clinice auto-raportate de utilizator, fără a necesita o biopsie invazivă și costisitoare, cu o rată de acuratețe până la 90%.</a:t>
            </a:r>
          </a:p>
        </p:txBody>
      </p:sp>
    </p:spTree>
    <p:extLst>
      <p:ext uri="{BB962C8B-B14F-4D97-AF65-F5344CB8AC3E}">
        <p14:creationId xmlns:p14="http://schemas.microsoft.com/office/powerpoint/2010/main" val="1340578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E06D122-8A80-3F27-20AC-BFDF0787BAFA}"/>
              </a:ext>
            </a:extLst>
          </p:cNvPr>
          <p:cNvSpPr>
            <a:spLocks noGrp="1"/>
          </p:cNvSpPr>
          <p:nvPr>
            <p:ph type="title"/>
          </p:nvPr>
        </p:nvSpPr>
        <p:spPr/>
        <p:txBody>
          <a:bodyPr/>
          <a:lstStyle/>
          <a:p>
            <a:r>
              <a:rPr lang="ro-RO" dirty="0"/>
              <a:t>CE POATE FACE ȘI DE CE FACE?</a:t>
            </a:r>
          </a:p>
        </p:txBody>
      </p:sp>
      <p:graphicFrame>
        <p:nvGraphicFramePr>
          <p:cNvPr id="4" name="Substituent conținut 3">
            <a:extLst>
              <a:ext uri="{FF2B5EF4-FFF2-40B4-BE49-F238E27FC236}">
                <a16:creationId xmlns:a16="http://schemas.microsoft.com/office/drawing/2014/main" id="{F742E616-FFD1-F4EC-C2F6-C37F7B4ED181}"/>
              </a:ext>
            </a:extLst>
          </p:cNvPr>
          <p:cNvGraphicFramePr>
            <a:graphicFrameLocks noGrp="1"/>
          </p:cNvGraphicFramePr>
          <p:nvPr>
            <p:ph idx="1"/>
            <p:extLst>
              <p:ext uri="{D42A27DB-BD31-4B8C-83A1-F6EECF244321}">
                <p14:modId xmlns:p14="http://schemas.microsoft.com/office/powerpoint/2010/main" val="2839355938"/>
              </p:ext>
            </p:extLst>
          </p:nvPr>
        </p:nvGraphicFramePr>
        <p:xfrm>
          <a:off x="1258042" y="2213959"/>
          <a:ext cx="9672742" cy="3612770"/>
        </p:xfrm>
        <a:graphic>
          <a:graphicData uri="http://schemas.openxmlformats.org/drawingml/2006/table">
            <a:tbl>
              <a:tblPr/>
              <a:tblGrid>
                <a:gridCol w="4836371">
                  <a:extLst>
                    <a:ext uri="{9D8B030D-6E8A-4147-A177-3AD203B41FA5}">
                      <a16:colId xmlns:a16="http://schemas.microsoft.com/office/drawing/2014/main" val="361295680"/>
                    </a:ext>
                  </a:extLst>
                </a:gridCol>
                <a:gridCol w="4836371">
                  <a:extLst>
                    <a:ext uri="{9D8B030D-6E8A-4147-A177-3AD203B41FA5}">
                      <a16:colId xmlns:a16="http://schemas.microsoft.com/office/drawing/2014/main" val="2906930928"/>
                    </a:ext>
                  </a:extLst>
                </a:gridCol>
              </a:tblGrid>
              <a:tr h="386910">
                <a:tc>
                  <a:txBody>
                    <a:bodyPr/>
                    <a:lstStyle/>
                    <a:p>
                      <a:pPr rtl="0">
                        <a:buNone/>
                      </a:pPr>
                      <a:r>
                        <a:rPr lang="ro-RO" sz="1800" b="1">
                          <a:solidFill>
                            <a:srgbClr val="1B1C1D"/>
                          </a:solidFill>
                          <a:effectLst/>
                          <a:latin typeface="Google Sans Text"/>
                        </a:rPr>
                        <a:t>Capabilitate</a:t>
                      </a:r>
                      <a:endParaRPr lang="ro-RO" sz="1800">
                        <a:solidFill>
                          <a:srgbClr val="1B1C1D"/>
                        </a:solidFill>
                        <a:effectLst/>
                        <a:latin typeface="Google Sans Text"/>
                      </a:endParaRP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sz="1800" b="1">
                          <a:solidFill>
                            <a:srgbClr val="1B1C1D"/>
                          </a:solidFill>
                          <a:effectLst/>
                          <a:latin typeface="Google Sans Text"/>
                        </a:rPr>
                        <a:t>Rolul în Sistem</a:t>
                      </a:r>
                      <a:endParaRPr lang="ro-RO" sz="1800">
                        <a:solidFill>
                          <a:srgbClr val="1B1C1D"/>
                        </a:solidFill>
                        <a:effectLst/>
                        <a:latin typeface="Google Sans Text"/>
                      </a:endParaRP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88226378"/>
                  </a:ext>
                </a:extLst>
              </a:tr>
              <a:tr h="654770">
                <a:tc>
                  <a:txBody>
                    <a:bodyPr/>
                    <a:lstStyle/>
                    <a:p>
                      <a:pPr rtl="0">
                        <a:buNone/>
                      </a:pPr>
                      <a:r>
                        <a:rPr lang="ro-RO" sz="1800" b="1">
                          <a:solidFill>
                            <a:srgbClr val="1B1C1D"/>
                          </a:solidFill>
                          <a:effectLst/>
                          <a:latin typeface="Google Sans Text"/>
                        </a:rPr>
                        <a:t>Clasificare RN</a:t>
                      </a:r>
                      <a:endParaRPr lang="ro-RO" sz="1800">
                        <a:solidFill>
                          <a:srgbClr val="1B1C1D"/>
                        </a:solidFill>
                        <a:effectLst/>
                        <a:latin typeface="Google Sans Text"/>
                      </a:endParaRP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it-IT" sz="1800" dirty="0">
                          <a:solidFill>
                            <a:srgbClr val="1B1C1D"/>
                          </a:solidFill>
                          <a:effectLst/>
                          <a:latin typeface="Google Sans Text"/>
                        </a:rPr>
                        <a:t>Nucleul AI: Procesează cele </a:t>
                      </a:r>
                      <a:r>
                        <a:rPr lang="it-IT" sz="1800" b="1" dirty="0">
                          <a:solidFill>
                            <a:srgbClr val="1B1C1D"/>
                          </a:solidFill>
                          <a:effectLst/>
                          <a:latin typeface="Google Sans Text"/>
                        </a:rPr>
                        <a:t>12</a:t>
                      </a:r>
                      <a:r>
                        <a:rPr lang="ro-RO" sz="1800" b="1" dirty="0">
                          <a:solidFill>
                            <a:srgbClr val="1B1C1D"/>
                          </a:solidFill>
                          <a:effectLst/>
                          <a:latin typeface="Google Sans Text"/>
                        </a:rPr>
                        <a:t>/34</a:t>
                      </a:r>
                      <a:r>
                        <a:rPr lang="it-IT" sz="1800" b="1" dirty="0">
                          <a:solidFill>
                            <a:srgbClr val="1B1C1D"/>
                          </a:solidFill>
                          <a:effectLst/>
                          <a:latin typeface="Google Sans Text"/>
                        </a:rPr>
                        <a:t> atribute clinice</a:t>
                      </a:r>
                      <a:r>
                        <a:rPr lang="it-IT" sz="1800" dirty="0">
                          <a:solidFill>
                            <a:srgbClr val="1B1C1D"/>
                          </a:solidFill>
                          <a:effectLst/>
                          <a:latin typeface="Google Sans Text"/>
                        </a:rPr>
                        <a:t> pentru a produce un set de probabilități.</a:t>
                      </a: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74934625"/>
                  </a:ext>
                </a:extLst>
              </a:tr>
              <a:tr h="922631">
                <a:tc>
                  <a:txBody>
                    <a:bodyPr/>
                    <a:lstStyle/>
                    <a:p>
                      <a:pPr rtl="0">
                        <a:buNone/>
                      </a:pPr>
                      <a:r>
                        <a:rPr lang="ro-RO" sz="1800" b="1">
                          <a:solidFill>
                            <a:srgbClr val="1B1C1D"/>
                          </a:solidFill>
                          <a:effectLst/>
                          <a:latin typeface="Google Sans Text"/>
                        </a:rPr>
                        <a:t>Generare Triage</a:t>
                      </a:r>
                      <a:endParaRPr lang="ro-RO" sz="1800">
                        <a:solidFill>
                          <a:srgbClr val="1B1C1D"/>
                        </a:solidFill>
                        <a:effectLst/>
                        <a:latin typeface="Google Sans Text"/>
                      </a:endParaRP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sz="1800" dirty="0">
                          <a:solidFill>
                            <a:srgbClr val="1B1C1D"/>
                          </a:solidFill>
                          <a:effectLst/>
                          <a:latin typeface="Google Sans Text"/>
                        </a:rPr>
                        <a:t>Afișează utilizatorului un </a:t>
                      </a:r>
                      <a:r>
                        <a:rPr lang="ro-RO" sz="1800" b="1" dirty="0">
                          <a:solidFill>
                            <a:srgbClr val="1B1C1D"/>
                          </a:solidFill>
                          <a:effectLst/>
                          <a:latin typeface="Google Sans Text"/>
                        </a:rPr>
                        <a:t>Top 3 de diagnostice posibile</a:t>
                      </a:r>
                      <a:r>
                        <a:rPr lang="ro-RO" sz="1800" dirty="0">
                          <a:solidFill>
                            <a:srgbClr val="1B1C1D"/>
                          </a:solidFill>
                          <a:effectLst/>
                          <a:latin typeface="Google Sans Text"/>
                        </a:rPr>
                        <a:t> și oferă automat o recomandare de acțiune clinică.</a:t>
                      </a: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56362880"/>
                  </a:ext>
                </a:extLst>
              </a:tr>
              <a:tr h="654770">
                <a:tc>
                  <a:txBody>
                    <a:bodyPr/>
                    <a:lstStyle/>
                    <a:p>
                      <a:pPr rtl="0">
                        <a:buNone/>
                      </a:pPr>
                      <a:r>
                        <a:rPr lang="ro-RO" sz="1800" b="1">
                          <a:solidFill>
                            <a:srgbClr val="1B1C1D"/>
                          </a:solidFill>
                          <a:effectLst/>
                          <a:latin typeface="Google Sans Text"/>
                        </a:rPr>
                        <a:t>Stocare Locală</a:t>
                      </a:r>
                      <a:endParaRPr lang="ro-RO" sz="1800">
                        <a:solidFill>
                          <a:srgbClr val="1B1C1D"/>
                        </a:solidFill>
                        <a:effectLst/>
                        <a:latin typeface="Google Sans Text"/>
                      </a:endParaRP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sz="1800" dirty="0">
                          <a:solidFill>
                            <a:srgbClr val="1B1C1D"/>
                          </a:solidFill>
                          <a:effectLst/>
                          <a:latin typeface="Google Sans Text"/>
                        </a:rPr>
                        <a:t>Înregistrează datele cazurilor nou înregistrate în baza de date </a:t>
                      </a:r>
                      <a:r>
                        <a:rPr lang="ro-RO" sz="1800" b="1" dirty="0">
                          <a:solidFill>
                            <a:srgbClr val="1B1C1D"/>
                          </a:solidFill>
                          <a:effectLst/>
                          <a:latin typeface="Google Sans Text"/>
                        </a:rPr>
                        <a:t>SQL</a:t>
                      </a:r>
                      <a:r>
                        <a:rPr lang="ro-RO" sz="1800" dirty="0">
                          <a:solidFill>
                            <a:srgbClr val="1B1C1D"/>
                          </a:solidFill>
                          <a:effectLst/>
                          <a:latin typeface="Google Sans Text"/>
                        </a:rPr>
                        <a:t>.</a:t>
                      </a: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62402146"/>
                  </a:ext>
                </a:extLst>
              </a:tr>
              <a:tr h="922631">
                <a:tc>
                  <a:txBody>
                    <a:bodyPr/>
                    <a:lstStyle/>
                    <a:p>
                      <a:pPr rtl="0">
                        <a:buNone/>
                      </a:pPr>
                      <a:r>
                        <a:rPr lang="ro-RO" sz="1800" b="1">
                          <a:solidFill>
                            <a:srgbClr val="1B1C1D"/>
                          </a:solidFill>
                          <a:effectLst/>
                          <a:latin typeface="Google Sans Text"/>
                        </a:rPr>
                        <a:t>Alertă Epidemiologică</a:t>
                      </a:r>
                      <a:endParaRPr lang="ro-RO" sz="1800">
                        <a:solidFill>
                          <a:srgbClr val="1B1C1D"/>
                        </a:solidFill>
                        <a:effectLst/>
                        <a:latin typeface="Google Sans Text"/>
                      </a:endParaRP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sz="1800" dirty="0">
                          <a:solidFill>
                            <a:srgbClr val="1B1C1D"/>
                          </a:solidFill>
                          <a:effectLst/>
                          <a:latin typeface="Google Sans Text"/>
                        </a:rPr>
                        <a:t>Monitorizează intrările recente pentru a genera o alertă "Epidemii actuale" (pe baza densității cazurilor similare în timp scurt).</a:t>
                      </a:r>
                    </a:p>
                  </a:txBody>
                  <a:tcPr marL="89287" marR="89287" marT="59525" marB="5952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10888264"/>
                  </a:ext>
                </a:extLst>
              </a:tr>
            </a:tbl>
          </a:graphicData>
        </a:graphic>
      </p:graphicFrame>
    </p:spTree>
    <p:extLst>
      <p:ext uri="{BB962C8B-B14F-4D97-AF65-F5344CB8AC3E}">
        <p14:creationId xmlns:p14="http://schemas.microsoft.com/office/powerpoint/2010/main" val="1321251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663CB899-88B2-8A58-42DF-5E8A5F7717A2}"/>
              </a:ext>
            </a:extLst>
          </p:cNvPr>
          <p:cNvSpPr>
            <a:spLocks noGrp="1"/>
          </p:cNvSpPr>
          <p:nvPr>
            <p:ph type="title"/>
          </p:nvPr>
        </p:nvSpPr>
        <p:spPr/>
        <p:txBody>
          <a:bodyPr/>
          <a:lstStyle/>
          <a:p>
            <a:r>
              <a:rPr lang="ro-RO" dirty="0"/>
              <a:t>Arhitectura </a:t>
            </a:r>
            <a:r>
              <a:rPr lang="ro-RO" dirty="0" err="1"/>
              <a:t>sia</a:t>
            </a:r>
            <a:r>
              <a:rPr lang="ro-RO" dirty="0"/>
              <a:t>-ului: componente principale</a:t>
            </a:r>
          </a:p>
        </p:txBody>
      </p:sp>
      <p:sp>
        <p:nvSpPr>
          <p:cNvPr id="3" name="Substituent conținut 2">
            <a:extLst>
              <a:ext uri="{FF2B5EF4-FFF2-40B4-BE49-F238E27FC236}">
                <a16:creationId xmlns:a16="http://schemas.microsoft.com/office/drawing/2014/main" id="{D609856A-484E-9524-C78A-27EED7CEE75C}"/>
              </a:ext>
            </a:extLst>
          </p:cNvPr>
          <p:cNvSpPr>
            <a:spLocks noGrp="1"/>
          </p:cNvSpPr>
          <p:nvPr>
            <p:ph idx="1"/>
          </p:nvPr>
        </p:nvSpPr>
        <p:spPr>
          <a:xfrm>
            <a:off x="1141413" y="1718545"/>
            <a:ext cx="10912936" cy="4416784"/>
          </a:xfrm>
        </p:spPr>
        <p:txBody>
          <a:bodyPr>
            <a:normAutofit fontScale="77500" lnSpcReduction="20000"/>
          </a:bodyPr>
          <a:lstStyle/>
          <a:p>
            <a:r>
              <a:rPr lang="ro-RO" dirty="0">
                <a:latin typeface="Calibri" panose="020F0502020204030204" pitchFamily="34" charset="0"/>
                <a:ea typeface="Calibri" panose="020F0502020204030204" pitchFamily="34" charset="0"/>
                <a:cs typeface="Calibri" panose="020F0502020204030204" pitchFamily="34" charset="0"/>
              </a:rPr>
              <a:t>Arhitectura software se bazează pe modularitate, folosind exclusiv </a:t>
            </a:r>
            <a:r>
              <a:rPr lang="ro-RO" b="1" dirty="0" err="1">
                <a:latin typeface="Calibri" panose="020F0502020204030204" pitchFamily="34" charset="0"/>
                <a:ea typeface="Calibri" panose="020F0502020204030204" pitchFamily="34" charset="0"/>
                <a:cs typeface="Calibri" panose="020F0502020204030204" pitchFamily="34" charset="0"/>
              </a:rPr>
              <a:t>Python</a:t>
            </a:r>
            <a:r>
              <a:rPr lang="ro-RO" b="1" dirty="0">
                <a:latin typeface="Calibri" panose="020F0502020204030204" pitchFamily="34" charset="0"/>
                <a:ea typeface="Calibri" panose="020F0502020204030204" pitchFamily="34" charset="0"/>
                <a:cs typeface="Calibri" panose="020F0502020204030204" pitchFamily="34" charset="0"/>
              </a:rPr>
              <a:t> </a:t>
            </a:r>
            <a:r>
              <a:rPr lang="ro-RO" dirty="0">
                <a:latin typeface="Calibri" panose="020F0502020204030204" pitchFamily="34" charset="0"/>
                <a:ea typeface="Calibri" panose="020F0502020204030204" pitchFamily="34" charset="0"/>
                <a:cs typeface="Calibri" panose="020F0502020204030204" pitchFamily="34" charset="0"/>
              </a:rPr>
              <a:t>(mediu de bază + </a:t>
            </a:r>
            <a:r>
              <a:rPr lang="ro-RO" dirty="0" err="1">
                <a:latin typeface="Calibri" panose="020F0502020204030204" pitchFamily="34" charset="0"/>
                <a:ea typeface="Calibri" panose="020F0502020204030204" pitchFamily="34" charset="0"/>
                <a:cs typeface="Calibri" panose="020F0502020204030204" pitchFamily="34" charset="0"/>
              </a:rPr>
              <a:t>frameworkuri</a:t>
            </a:r>
            <a:r>
              <a:rPr lang="ro-RO" dirty="0">
                <a:latin typeface="Calibri" panose="020F0502020204030204" pitchFamily="34" charset="0"/>
                <a:ea typeface="Calibri" panose="020F0502020204030204" pitchFamily="34" charset="0"/>
                <a:cs typeface="Calibri" panose="020F0502020204030204" pitchFamily="34" charset="0"/>
              </a:rPr>
              <a:t>).</a:t>
            </a:r>
          </a:p>
          <a:p>
            <a:r>
              <a:rPr lang="ro-RO" b="1" dirty="0">
                <a:latin typeface="Calibri" panose="020F0502020204030204" pitchFamily="34" charset="0"/>
                <a:ea typeface="Calibri" panose="020F0502020204030204" pitchFamily="34" charset="0"/>
                <a:cs typeface="Calibri" panose="020F0502020204030204" pitchFamily="34" charset="0"/>
              </a:rPr>
              <a:t>Modulul 1: Rețeaua Neuronală (RN)</a:t>
            </a:r>
            <a:endParaRPr lang="ro-RO" dirty="0">
              <a:latin typeface="Calibri" panose="020F0502020204030204" pitchFamily="34" charset="0"/>
              <a:ea typeface="Calibri" panose="020F0502020204030204" pitchFamily="34" charset="0"/>
              <a:cs typeface="Calibri" panose="020F0502020204030204" pitchFamily="34" charset="0"/>
            </a:endParaRPr>
          </a:p>
          <a:p>
            <a:pPr lvl="1"/>
            <a:r>
              <a:rPr lang="ro-RO" i="1" dirty="0">
                <a:latin typeface="Calibri" panose="020F0502020204030204" pitchFamily="34" charset="0"/>
                <a:ea typeface="Calibri" panose="020F0502020204030204" pitchFamily="34" charset="0"/>
                <a:cs typeface="Calibri" panose="020F0502020204030204" pitchFamily="34" charset="0"/>
              </a:rPr>
              <a:t>Tip:</a:t>
            </a:r>
            <a:r>
              <a:rPr lang="ro-RO" dirty="0">
                <a:latin typeface="Calibri" panose="020F0502020204030204" pitchFamily="34" charset="0"/>
                <a:ea typeface="Calibri" panose="020F0502020204030204" pitchFamily="34" charset="0"/>
                <a:cs typeface="Calibri" panose="020F0502020204030204" pitchFamily="34" charset="0"/>
              </a:rPr>
              <a:t> </a:t>
            </a:r>
            <a:r>
              <a:rPr lang="ro-RO" b="1" dirty="0">
                <a:latin typeface="Calibri" panose="020F0502020204030204" pitchFamily="34" charset="0"/>
                <a:ea typeface="Calibri" panose="020F0502020204030204" pitchFamily="34" charset="0"/>
                <a:cs typeface="Calibri" panose="020F0502020204030204" pitchFamily="34" charset="0"/>
              </a:rPr>
              <a:t>MLP (</a:t>
            </a:r>
            <a:r>
              <a:rPr lang="ro-RO" b="1" dirty="0" err="1">
                <a:latin typeface="Calibri" panose="020F0502020204030204" pitchFamily="34" charset="0"/>
                <a:ea typeface="Calibri" panose="020F0502020204030204" pitchFamily="34" charset="0"/>
                <a:cs typeface="Calibri" panose="020F0502020204030204" pitchFamily="34" charset="0"/>
              </a:rPr>
              <a:t>Multilayer</a:t>
            </a:r>
            <a:r>
              <a:rPr lang="ro-RO" b="1" dirty="0">
                <a:latin typeface="Calibri" panose="020F0502020204030204" pitchFamily="34" charset="0"/>
                <a:ea typeface="Calibri" panose="020F0502020204030204" pitchFamily="34" charset="0"/>
                <a:cs typeface="Calibri" panose="020F0502020204030204" pitchFamily="34" charset="0"/>
              </a:rPr>
              <a:t> </a:t>
            </a:r>
            <a:r>
              <a:rPr lang="ro-RO" b="1" dirty="0" err="1">
                <a:latin typeface="Calibri" panose="020F0502020204030204" pitchFamily="34" charset="0"/>
                <a:ea typeface="Calibri" panose="020F0502020204030204" pitchFamily="34" charset="0"/>
                <a:cs typeface="Calibri" panose="020F0502020204030204" pitchFamily="34" charset="0"/>
              </a:rPr>
              <a:t>Perceptron</a:t>
            </a:r>
            <a:r>
              <a:rPr lang="ro-RO" b="1" dirty="0">
                <a:latin typeface="Calibri" panose="020F0502020204030204" pitchFamily="34" charset="0"/>
                <a:ea typeface="Calibri" panose="020F0502020204030204" pitchFamily="34" charset="0"/>
                <a:cs typeface="Calibri" panose="020F0502020204030204" pitchFamily="34" charset="0"/>
              </a:rPr>
              <a:t>)</a:t>
            </a:r>
            <a:r>
              <a:rPr lang="ro-RO" dirty="0">
                <a:latin typeface="Calibri" panose="020F0502020204030204" pitchFamily="34" charset="0"/>
                <a:ea typeface="Calibri" panose="020F0502020204030204" pitchFamily="34" charset="0"/>
                <a:cs typeface="Calibri" panose="020F0502020204030204" pitchFamily="34" charset="0"/>
              </a:rPr>
              <a:t>.</a:t>
            </a:r>
          </a:p>
          <a:p>
            <a:pPr lvl="1"/>
            <a:r>
              <a:rPr lang="ro-RO" i="1" dirty="0">
                <a:latin typeface="Calibri" panose="020F0502020204030204" pitchFamily="34" charset="0"/>
                <a:ea typeface="Calibri" panose="020F0502020204030204" pitchFamily="34" charset="0"/>
                <a:cs typeface="Calibri" panose="020F0502020204030204" pitchFamily="34" charset="0"/>
              </a:rPr>
              <a:t>Input </a:t>
            </a:r>
            <a:r>
              <a:rPr lang="ro-RO" i="1" dirty="0" err="1">
                <a:latin typeface="Calibri" panose="020F0502020204030204" pitchFamily="34" charset="0"/>
                <a:ea typeface="Calibri" panose="020F0502020204030204" pitchFamily="34" charset="0"/>
                <a:cs typeface="Calibri" panose="020F0502020204030204" pitchFamily="34" charset="0"/>
              </a:rPr>
              <a:t>Layer</a:t>
            </a:r>
            <a:r>
              <a:rPr lang="ro-RO" i="1" dirty="0">
                <a:latin typeface="Calibri" panose="020F0502020204030204" pitchFamily="34" charset="0"/>
                <a:ea typeface="Calibri" panose="020F0502020204030204" pitchFamily="34" charset="0"/>
                <a:cs typeface="Calibri" panose="020F0502020204030204" pitchFamily="34" charset="0"/>
              </a:rPr>
              <a:t>:</a:t>
            </a:r>
            <a:r>
              <a:rPr lang="ro-RO" dirty="0">
                <a:latin typeface="Calibri" panose="020F0502020204030204" pitchFamily="34" charset="0"/>
                <a:ea typeface="Calibri" panose="020F0502020204030204" pitchFamily="34" charset="0"/>
                <a:cs typeface="Calibri" panose="020F0502020204030204" pitchFamily="34" charset="0"/>
              </a:rPr>
              <a:t> </a:t>
            </a:r>
            <a:r>
              <a:rPr lang="ro-RO" b="1" dirty="0">
                <a:latin typeface="Calibri" panose="020F0502020204030204" pitchFamily="34" charset="0"/>
                <a:ea typeface="Calibri" panose="020F0502020204030204" pitchFamily="34" charset="0"/>
                <a:cs typeface="Calibri" panose="020F0502020204030204" pitchFamily="34" charset="0"/>
              </a:rPr>
              <a:t>12 neuroni</a:t>
            </a:r>
            <a:r>
              <a:rPr lang="ro-RO" dirty="0">
                <a:latin typeface="Calibri" panose="020F0502020204030204" pitchFamily="34" charset="0"/>
                <a:ea typeface="Calibri" panose="020F0502020204030204" pitchFamily="34" charset="0"/>
                <a:cs typeface="Calibri" panose="020F0502020204030204" pitchFamily="34" charset="0"/>
              </a:rPr>
              <a:t> (corespunzând atributelor clinice).</a:t>
            </a:r>
          </a:p>
          <a:p>
            <a:pPr lvl="1"/>
            <a:r>
              <a:rPr lang="ro-RO" i="1" dirty="0">
                <a:latin typeface="Calibri" panose="020F0502020204030204" pitchFamily="34" charset="0"/>
                <a:ea typeface="Calibri" panose="020F0502020204030204" pitchFamily="34" charset="0"/>
                <a:cs typeface="Calibri" panose="020F0502020204030204" pitchFamily="34" charset="0"/>
              </a:rPr>
              <a:t>Output </a:t>
            </a:r>
            <a:r>
              <a:rPr lang="ro-RO" i="1" dirty="0" err="1">
                <a:latin typeface="Calibri" panose="020F0502020204030204" pitchFamily="34" charset="0"/>
                <a:ea typeface="Calibri" panose="020F0502020204030204" pitchFamily="34" charset="0"/>
                <a:cs typeface="Calibri" panose="020F0502020204030204" pitchFamily="34" charset="0"/>
              </a:rPr>
              <a:t>Layer</a:t>
            </a:r>
            <a:r>
              <a:rPr lang="ro-RO" i="1" dirty="0">
                <a:latin typeface="Calibri" panose="020F0502020204030204" pitchFamily="34" charset="0"/>
                <a:ea typeface="Calibri" panose="020F0502020204030204" pitchFamily="34" charset="0"/>
                <a:cs typeface="Calibri" panose="020F0502020204030204" pitchFamily="34" charset="0"/>
              </a:rPr>
              <a:t>:</a:t>
            </a:r>
            <a:r>
              <a:rPr lang="ro-RO" dirty="0">
                <a:latin typeface="Calibri" panose="020F0502020204030204" pitchFamily="34" charset="0"/>
                <a:ea typeface="Calibri" panose="020F0502020204030204" pitchFamily="34" charset="0"/>
                <a:cs typeface="Calibri" panose="020F0502020204030204" pitchFamily="34" charset="0"/>
              </a:rPr>
              <a:t> </a:t>
            </a:r>
            <a:r>
              <a:rPr lang="ro-RO" b="1" dirty="0">
                <a:latin typeface="Calibri" panose="020F0502020204030204" pitchFamily="34" charset="0"/>
                <a:ea typeface="Calibri" panose="020F0502020204030204" pitchFamily="34" charset="0"/>
                <a:cs typeface="Calibri" panose="020F0502020204030204" pitchFamily="34" charset="0"/>
              </a:rPr>
              <a:t>6 neuroni</a:t>
            </a:r>
            <a:r>
              <a:rPr lang="ro-RO" dirty="0">
                <a:latin typeface="Calibri" panose="020F0502020204030204" pitchFamily="34" charset="0"/>
                <a:ea typeface="Calibri" panose="020F0502020204030204" pitchFamily="34" charset="0"/>
                <a:cs typeface="Calibri" panose="020F0502020204030204" pitchFamily="34" charset="0"/>
              </a:rPr>
              <a:t> (cele 6 boli posibile și asemănătoare) cu funcție de activare </a:t>
            </a:r>
            <a:r>
              <a:rPr lang="ro-RO" b="1" dirty="0" err="1">
                <a:latin typeface="Calibri" panose="020F0502020204030204" pitchFamily="34" charset="0"/>
                <a:ea typeface="Calibri" panose="020F0502020204030204" pitchFamily="34" charset="0"/>
                <a:cs typeface="Calibri" panose="020F0502020204030204" pitchFamily="34" charset="0"/>
              </a:rPr>
              <a:t>Softmax</a:t>
            </a:r>
            <a:r>
              <a:rPr lang="ro-RO" dirty="0">
                <a:latin typeface="Calibri" panose="020F0502020204030204" pitchFamily="34" charset="0"/>
                <a:ea typeface="Calibri" panose="020F0502020204030204" pitchFamily="34" charset="0"/>
                <a:cs typeface="Calibri" panose="020F0502020204030204" pitchFamily="34" charset="0"/>
              </a:rPr>
              <a:t> (pentru probabilități).</a:t>
            </a:r>
          </a:p>
          <a:p>
            <a:pPr lvl="1"/>
            <a:r>
              <a:rPr lang="ro-RO" i="1" dirty="0">
                <a:latin typeface="Calibri" panose="020F0502020204030204" pitchFamily="34" charset="0"/>
                <a:ea typeface="Calibri" panose="020F0502020204030204" pitchFamily="34" charset="0"/>
                <a:cs typeface="Calibri" panose="020F0502020204030204" pitchFamily="34" charset="0"/>
              </a:rPr>
              <a:t>Rol:</a:t>
            </a:r>
            <a:r>
              <a:rPr lang="ro-RO" dirty="0">
                <a:latin typeface="Calibri" panose="020F0502020204030204" pitchFamily="34" charset="0"/>
                <a:ea typeface="Calibri" panose="020F0502020204030204" pitchFamily="34" charset="0"/>
                <a:cs typeface="Calibri" panose="020F0502020204030204" pitchFamily="34" charset="0"/>
              </a:rPr>
              <a:t> Execută funcția de </a:t>
            </a:r>
            <a:r>
              <a:rPr lang="ro-RO" b="1" dirty="0">
                <a:latin typeface="Calibri" panose="020F0502020204030204" pitchFamily="34" charset="0"/>
                <a:ea typeface="Calibri" panose="020F0502020204030204" pitchFamily="34" charset="0"/>
                <a:cs typeface="Calibri" panose="020F0502020204030204" pitchFamily="34" charset="0"/>
              </a:rPr>
              <a:t>inferență</a:t>
            </a:r>
            <a:r>
              <a:rPr lang="ro-RO" dirty="0">
                <a:latin typeface="Calibri" panose="020F0502020204030204" pitchFamily="34" charset="0"/>
                <a:ea typeface="Calibri" panose="020F0502020204030204" pitchFamily="34" charset="0"/>
                <a:cs typeface="Calibri" panose="020F0502020204030204" pitchFamily="34" charset="0"/>
              </a:rPr>
              <a:t> pentru a clasifica input-ul.</a:t>
            </a:r>
          </a:p>
          <a:p>
            <a:r>
              <a:rPr lang="ro-RO" b="1" dirty="0">
                <a:latin typeface="Calibri" panose="020F0502020204030204" pitchFamily="34" charset="0"/>
                <a:ea typeface="Calibri" panose="020F0502020204030204" pitchFamily="34" charset="0"/>
                <a:cs typeface="Calibri" panose="020F0502020204030204" pitchFamily="34" charset="0"/>
              </a:rPr>
              <a:t>Modulul 2: Interfața Grafică (GUI)</a:t>
            </a:r>
            <a:endParaRPr lang="ro-RO" dirty="0">
              <a:latin typeface="Calibri" panose="020F0502020204030204" pitchFamily="34" charset="0"/>
              <a:ea typeface="Calibri" panose="020F0502020204030204" pitchFamily="34" charset="0"/>
              <a:cs typeface="Calibri" panose="020F0502020204030204" pitchFamily="34" charset="0"/>
            </a:endParaRPr>
          </a:p>
          <a:p>
            <a:pPr lvl="1"/>
            <a:r>
              <a:rPr lang="ro-RO" i="1" dirty="0">
                <a:latin typeface="Calibri" panose="020F0502020204030204" pitchFamily="34" charset="0"/>
                <a:ea typeface="Calibri" panose="020F0502020204030204" pitchFamily="34" charset="0"/>
                <a:cs typeface="Calibri" panose="020F0502020204030204" pitchFamily="34" charset="0"/>
              </a:rPr>
              <a:t>Tehnologie:</a:t>
            </a:r>
            <a:r>
              <a:rPr lang="ro-RO" dirty="0">
                <a:latin typeface="Calibri" panose="020F0502020204030204" pitchFamily="34" charset="0"/>
                <a:ea typeface="Calibri" panose="020F0502020204030204" pitchFamily="34" charset="0"/>
                <a:cs typeface="Calibri" panose="020F0502020204030204" pitchFamily="34" charset="0"/>
              </a:rPr>
              <a:t> foarte probabil </a:t>
            </a:r>
            <a:r>
              <a:rPr lang="ro-RO" dirty="0" err="1">
                <a:latin typeface="Calibri" panose="020F0502020204030204" pitchFamily="34" charset="0"/>
                <a:ea typeface="Calibri" panose="020F0502020204030204" pitchFamily="34" charset="0"/>
                <a:cs typeface="Calibri" panose="020F0502020204030204" pitchFamily="34" charset="0"/>
              </a:rPr>
              <a:t>PyQT</a:t>
            </a:r>
            <a:endParaRPr lang="ro-RO" dirty="0">
              <a:latin typeface="Calibri" panose="020F0502020204030204" pitchFamily="34" charset="0"/>
              <a:ea typeface="Calibri" panose="020F0502020204030204" pitchFamily="34" charset="0"/>
              <a:cs typeface="Calibri" panose="020F0502020204030204" pitchFamily="34" charset="0"/>
            </a:endParaRPr>
          </a:p>
          <a:p>
            <a:pPr lvl="1"/>
            <a:r>
              <a:rPr lang="ro-RO" i="1" dirty="0">
                <a:latin typeface="Calibri" panose="020F0502020204030204" pitchFamily="34" charset="0"/>
                <a:ea typeface="Calibri" panose="020F0502020204030204" pitchFamily="34" charset="0"/>
                <a:cs typeface="Calibri" panose="020F0502020204030204" pitchFamily="34" charset="0"/>
              </a:rPr>
              <a:t>Rol:</a:t>
            </a:r>
            <a:r>
              <a:rPr lang="ro-RO" dirty="0">
                <a:latin typeface="Calibri" panose="020F0502020204030204" pitchFamily="34" charset="0"/>
                <a:ea typeface="Calibri" panose="020F0502020204030204" pitchFamily="34" charset="0"/>
                <a:cs typeface="Calibri" panose="020F0502020204030204" pitchFamily="34" charset="0"/>
              </a:rPr>
              <a:t> Colectează input-ul (bifarea simptomelor) și afișează rezultatul Top 3 și fereastra de alertă.</a:t>
            </a:r>
          </a:p>
          <a:p>
            <a:r>
              <a:rPr lang="ro-RO" b="1" dirty="0">
                <a:latin typeface="Calibri" panose="020F0502020204030204" pitchFamily="34" charset="0"/>
                <a:ea typeface="Calibri" panose="020F0502020204030204" pitchFamily="34" charset="0"/>
                <a:cs typeface="Calibri" panose="020F0502020204030204" pitchFamily="34" charset="0"/>
              </a:rPr>
              <a:t>Modulul 3: Baza de Date (BD)</a:t>
            </a:r>
            <a:endParaRPr lang="ro-RO" dirty="0">
              <a:latin typeface="Calibri" panose="020F0502020204030204" pitchFamily="34" charset="0"/>
              <a:ea typeface="Calibri" panose="020F0502020204030204" pitchFamily="34" charset="0"/>
              <a:cs typeface="Calibri" panose="020F0502020204030204" pitchFamily="34" charset="0"/>
            </a:endParaRPr>
          </a:p>
          <a:p>
            <a:pPr lvl="1"/>
            <a:r>
              <a:rPr lang="ro-RO" i="1" dirty="0">
                <a:latin typeface="Calibri" panose="020F0502020204030204" pitchFamily="34" charset="0"/>
                <a:ea typeface="Calibri" panose="020F0502020204030204" pitchFamily="34" charset="0"/>
                <a:cs typeface="Calibri" panose="020F0502020204030204" pitchFamily="34" charset="0"/>
              </a:rPr>
              <a:t>Tehnologie:</a:t>
            </a:r>
            <a:r>
              <a:rPr lang="ro-RO" dirty="0">
                <a:latin typeface="Calibri" panose="020F0502020204030204" pitchFamily="34" charset="0"/>
                <a:ea typeface="Calibri" panose="020F0502020204030204" pitchFamily="34" charset="0"/>
                <a:cs typeface="Calibri" panose="020F0502020204030204" pitchFamily="34" charset="0"/>
              </a:rPr>
              <a:t> </a:t>
            </a:r>
            <a:r>
              <a:rPr lang="ro-RO" b="1" dirty="0">
                <a:latin typeface="Calibri" panose="020F0502020204030204" pitchFamily="34" charset="0"/>
                <a:ea typeface="Calibri" panose="020F0502020204030204" pitchFamily="34" charset="0"/>
                <a:cs typeface="Calibri" panose="020F0502020204030204" pitchFamily="34" charset="0"/>
              </a:rPr>
              <a:t>SQL</a:t>
            </a:r>
            <a:r>
              <a:rPr lang="ro-RO" dirty="0">
                <a:latin typeface="Calibri" panose="020F0502020204030204" pitchFamily="34" charset="0"/>
                <a:ea typeface="Calibri" panose="020F0502020204030204" pitchFamily="34" charset="0"/>
                <a:cs typeface="Calibri" panose="020F0502020204030204" pitchFamily="34" charset="0"/>
              </a:rPr>
              <a:t> (stocare locală, fișier unic).</a:t>
            </a:r>
          </a:p>
          <a:p>
            <a:pPr lvl="1"/>
            <a:r>
              <a:rPr lang="ro-RO" i="1" dirty="0">
                <a:latin typeface="Calibri" panose="020F0502020204030204" pitchFamily="34" charset="0"/>
                <a:ea typeface="Calibri" panose="020F0502020204030204" pitchFamily="34" charset="0"/>
                <a:cs typeface="Calibri" panose="020F0502020204030204" pitchFamily="34" charset="0"/>
              </a:rPr>
              <a:t>Rol:</a:t>
            </a:r>
            <a:r>
              <a:rPr lang="ro-RO" dirty="0">
                <a:latin typeface="Calibri" panose="020F0502020204030204" pitchFamily="34" charset="0"/>
                <a:ea typeface="Calibri" panose="020F0502020204030204" pitchFamily="34" charset="0"/>
                <a:cs typeface="Calibri" panose="020F0502020204030204" pitchFamily="34" charset="0"/>
              </a:rPr>
              <a:t> Salvează istoricul cazurilor (Simptome, Data, Diagnostic Prezis).</a:t>
            </a:r>
          </a:p>
          <a:p>
            <a:endParaRPr lang="ro-RO"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5868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B56DD14-98A3-6B96-46F7-A77632D8D5A3}"/>
              </a:ext>
            </a:extLst>
          </p:cNvPr>
          <p:cNvSpPr>
            <a:spLocks noGrp="1"/>
          </p:cNvSpPr>
          <p:nvPr>
            <p:ph type="title"/>
          </p:nvPr>
        </p:nvSpPr>
        <p:spPr/>
        <p:txBody>
          <a:bodyPr/>
          <a:lstStyle/>
          <a:p>
            <a:r>
              <a:rPr lang="ro-RO" dirty="0"/>
              <a:t>Fluxuri de date</a:t>
            </a:r>
          </a:p>
        </p:txBody>
      </p:sp>
      <p:sp>
        <p:nvSpPr>
          <p:cNvPr id="24" name="Substituent conținut 23">
            <a:extLst>
              <a:ext uri="{FF2B5EF4-FFF2-40B4-BE49-F238E27FC236}">
                <a16:creationId xmlns:a16="http://schemas.microsoft.com/office/drawing/2014/main" id="{EBA1E126-2FE3-AC74-5043-FF3E472E3016}"/>
              </a:ext>
            </a:extLst>
          </p:cNvPr>
          <p:cNvSpPr>
            <a:spLocks noGrp="1"/>
          </p:cNvSpPr>
          <p:nvPr>
            <p:ph idx="1"/>
          </p:nvPr>
        </p:nvSpPr>
        <p:spPr/>
        <p:txBody>
          <a:bodyPr>
            <a:normAutofit fontScale="70000" lnSpcReduction="20000"/>
          </a:bodyPr>
          <a:lstStyle/>
          <a:p>
            <a:r>
              <a:rPr lang="ro-RO" dirty="0">
                <a:latin typeface="Calibri" panose="020F0502020204030204" pitchFamily="34" charset="0"/>
                <a:ea typeface="Calibri" panose="020F0502020204030204" pitchFamily="34" charset="0"/>
                <a:cs typeface="Calibri" panose="020F0502020204030204" pitchFamily="34" charset="0"/>
              </a:rPr>
              <a:t>Fluxul descrie ciclul de la input la output, incluzând funcțiile de învățare și stocare.</a:t>
            </a:r>
          </a:p>
          <a:p>
            <a:r>
              <a:rPr lang="ro-RO" dirty="0">
                <a:latin typeface="Calibri" panose="020F0502020204030204" pitchFamily="34" charset="0"/>
                <a:ea typeface="Calibri" panose="020F0502020204030204" pitchFamily="34" charset="0"/>
                <a:cs typeface="Calibri" panose="020F0502020204030204" pitchFamily="34" charset="0"/>
              </a:rPr>
              <a:t>Input Simptome (Proces Real): Pacientul (Utilizatorul Standard) introduce datele prin GUI (Vectorul de 12 atribute).</a:t>
            </a:r>
          </a:p>
          <a:p>
            <a:r>
              <a:rPr lang="ro-RO" dirty="0">
                <a:latin typeface="Calibri" panose="020F0502020204030204" pitchFamily="34" charset="0"/>
                <a:ea typeface="Calibri" panose="020F0502020204030204" pitchFamily="34" charset="0"/>
                <a:cs typeface="Calibri" panose="020F0502020204030204" pitchFamily="34" charset="0"/>
              </a:rPr>
              <a:t>Calcul (Invers): Vectorul este transmis Modelului MLP (învățare anterioară) Modelul returnează un vector de probabilități (Top 3), deci de aici inversarea și sortarea vectorului</a:t>
            </a:r>
          </a:p>
          <a:p>
            <a:r>
              <a:rPr lang="ro-RO" dirty="0">
                <a:latin typeface="Calibri" panose="020F0502020204030204" pitchFamily="34" charset="0"/>
                <a:ea typeface="Calibri" panose="020F0502020204030204" pitchFamily="34" charset="0"/>
                <a:cs typeface="Calibri" panose="020F0502020204030204" pitchFamily="34" charset="0"/>
              </a:rPr>
              <a:t>Output și </a:t>
            </a:r>
            <a:r>
              <a:rPr lang="ro-RO" dirty="0" err="1">
                <a:latin typeface="Calibri" panose="020F0502020204030204" pitchFamily="34" charset="0"/>
                <a:ea typeface="Calibri" panose="020F0502020204030204" pitchFamily="34" charset="0"/>
                <a:cs typeface="Calibri" panose="020F0502020204030204" pitchFamily="34" charset="0"/>
              </a:rPr>
              <a:t>Triage</a:t>
            </a:r>
            <a:r>
              <a:rPr lang="ro-RO" dirty="0">
                <a:latin typeface="Calibri" panose="020F0502020204030204" pitchFamily="34" charset="0"/>
                <a:ea typeface="Calibri" panose="020F0502020204030204" pitchFamily="34" charset="0"/>
                <a:cs typeface="Calibri" panose="020F0502020204030204" pitchFamily="34" charset="0"/>
              </a:rPr>
              <a:t>: Interfața întoarce rezultatul primelor 3 boli cu recomandări.</a:t>
            </a:r>
          </a:p>
          <a:p>
            <a:r>
              <a:rPr lang="ro-RO" dirty="0">
                <a:latin typeface="Calibri" panose="020F0502020204030204" pitchFamily="34" charset="0"/>
                <a:ea typeface="Calibri" panose="020F0502020204030204" pitchFamily="34" charset="0"/>
                <a:cs typeface="Calibri" panose="020F0502020204030204" pitchFamily="34" charset="0"/>
              </a:rPr>
              <a:t>Stocare: Datele cazului (Cele 12 simptome cu parametrii aferenți, Data curentă, Diagnosticul prezis) sunt înregistrate în baza de date.</a:t>
            </a:r>
          </a:p>
          <a:p>
            <a:r>
              <a:rPr lang="ro-RO" dirty="0">
                <a:latin typeface="Calibri" panose="020F0502020204030204" pitchFamily="34" charset="0"/>
                <a:ea typeface="Calibri" panose="020F0502020204030204" pitchFamily="34" charset="0"/>
                <a:cs typeface="Calibri" panose="020F0502020204030204" pitchFamily="34" charset="0"/>
              </a:rPr>
              <a:t>Monitorizare: Modulul de Alertă rulează o interogare locală pe BD pentru a verifica densitatea cazurilor similare și activează fereastra "Epidemii actuale" în interfața grafică, dacă este cazul.</a:t>
            </a:r>
          </a:p>
        </p:txBody>
      </p:sp>
    </p:spTree>
    <p:extLst>
      <p:ext uri="{BB962C8B-B14F-4D97-AF65-F5344CB8AC3E}">
        <p14:creationId xmlns:p14="http://schemas.microsoft.com/office/powerpoint/2010/main" val="450301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9A20899-21C8-4197-3C44-5DD2C35EC06D}"/>
              </a:ext>
            </a:extLst>
          </p:cNvPr>
          <p:cNvSpPr>
            <a:spLocks noGrp="1"/>
          </p:cNvSpPr>
          <p:nvPr>
            <p:ph type="title"/>
          </p:nvPr>
        </p:nvSpPr>
        <p:spPr/>
        <p:txBody>
          <a:bodyPr/>
          <a:lstStyle/>
          <a:p>
            <a:r>
              <a:rPr lang="ro-RO" dirty="0">
                <a:latin typeface="Calibri" panose="020F0502020204030204" pitchFamily="34" charset="0"/>
                <a:ea typeface="Calibri" panose="020F0502020204030204" pitchFamily="34" charset="0"/>
                <a:cs typeface="Calibri" panose="020F0502020204030204" pitchFamily="34" charset="0"/>
              </a:rPr>
              <a:t>Utilizatori și permisiuni</a:t>
            </a:r>
          </a:p>
        </p:txBody>
      </p:sp>
      <p:graphicFrame>
        <p:nvGraphicFramePr>
          <p:cNvPr id="4" name="Substituent conținut 3">
            <a:extLst>
              <a:ext uri="{FF2B5EF4-FFF2-40B4-BE49-F238E27FC236}">
                <a16:creationId xmlns:a16="http://schemas.microsoft.com/office/drawing/2014/main" id="{85FE07E2-0A71-7D34-FA9F-2509DCBD1541}"/>
              </a:ext>
            </a:extLst>
          </p:cNvPr>
          <p:cNvGraphicFramePr>
            <a:graphicFrameLocks noGrp="1"/>
          </p:cNvGraphicFramePr>
          <p:nvPr>
            <p:ph idx="1"/>
            <p:extLst>
              <p:ext uri="{D42A27DB-BD31-4B8C-83A1-F6EECF244321}">
                <p14:modId xmlns:p14="http://schemas.microsoft.com/office/powerpoint/2010/main" val="1583850235"/>
              </p:ext>
            </p:extLst>
          </p:nvPr>
        </p:nvGraphicFramePr>
        <p:xfrm>
          <a:off x="1141413" y="2877344"/>
          <a:ext cx="9906000" cy="2286000"/>
        </p:xfrm>
        <a:graphic>
          <a:graphicData uri="http://schemas.openxmlformats.org/drawingml/2006/table">
            <a:tbl>
              <a:tblPr/>
              <a:tblGrid>
                <a:gridCol w="3302000">
                  <a:extLst>
                    <a:ext uri="{9D8B030D-6E8A-4147-A177-3AD203B41FA5}">
                      <a16:colId xmlns:a16="http://schemas.microsoft.com/office/drawing/2014/main" val="2626763758"/>
                    </a:ext>
                  </a:extLst>
                </a:gridCol>
                <a:gridCol w="3302000">
                  <a:extLst>
                    <a:ext uri="{9D8B030D-6E8A-4147-A177-3AD203B41FA5}">
                      <a16:colId xmlns:a16="http://schemas.microsoft.com/office/drawing/2014/main" val="1739477184"/>
                    </a:ext>
                  </a:extLst>
                </a:gridCol>
                <a:gridCol w="3302000">
                  <a:extLst>
                    <a:ext uri="{9D8B030D-6E8A-4147-A177-3AD203B41FA5}">
                      <a16:colId xmlns:a16="http://schemas.microsoft.com/office/drawing/2014/main" val="3387964135"/>
                    </a:ext>
                  </a:extLst>
                </a:gridCol>
              </a:tblGrid>
              <a:tr h="0">
                <a:tc>
                  <a:txBody>
                    <a:bodyPr/>
                    <a:lstStyle/>
                    <a:p>
                      <a:pPr rtl="0">
                        <a:buNone/>
                      </a:pPr>
                      <a:r>
                        <a:rPr lang="ro-RO" b="1"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Utilizator</a:t>
                      </a:r>
                      <a:endParaRPr lang="ro-RO" dirty="0">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b="1">
                          <a:solidFill>
                            <a:srgbClr val="1B1C1D"/>
                          </a:solidFill>
                          <a:effectLst/>
                          <a:latin typeface="Calibri" panose="020F0502020204030204" pitchFamily="34" charset="0"/>
                          <a:ea typeface="Calibri" panose="020F0502020204030204" pitchFamily="34" charset="0"/>
                          <a:cs typeface="Calibri" panose="020F0502020204030204" pitchFamily="34" charset="0"/>
                        </a:rPr>
                        <a:t>Rol/Funcții</a:t>
                      </a:r>
                      <a:endParaRPr lang="ro-RO">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fr-FR" b="1">
                          <a:solidFill>
                            <a:srgbClr val="1B1C1D"/>
                          </a:solidFill>
                          <a:effectLst/>
                          <a:latin typeface="Calibri" panose="020F0502020204030204" pitchFamily="34" charset="0"/>
                          <a:ea typeface="Calibri" panose="020F0502020204030204" pitchFamily="34" charset="0"/>
                          <a:cs typeface="Calibri" panose="020F0502020204030204" pitchFamily="34" charset="0"/>
                        </a:rPr>
                        <a:t>Permisiuni de Acces la Date</a:t>
                      </a:r>
                      <a:endParaRPr lang="fr-FR">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61787786"/>
                  </a:ext>
                </a:extLst>
              </a:tr>
              <a:tr h="0">
                <a:tc>
                  <a:txBody>
                    <a:bodyPr/>
                    <a:lstStyle/>
                    <a:p>
                      <a:pPr rtl="0">
                        <a:buNone/>
                      </a:pPr>
                      <a:r>
                        <a:rPr lang="ro-RO" b="1">
                          <a:solidFill>
                            <a:srgbClr val="1B1C1D"/>
                          </a:solidFill>
                          <a:effectLst/>
                          <a:latin typeface="Calibri" panose="020F0502020204030204" pitchFamily="34" charset="0"/>
                          <a:ea typeface="Calibri" panose="020F0502020204030204" pitchFamily="34" charset="0"/>
                          <a:cs typeface="Calibri" panose="020F0502020204030204" pitchFamily="34" charset="0"/>
                        </a:rPr>
                        <a:t>Utilizator Standard (Pacient)</a:t>
                      </a:r>
                      <a:endParaRPr lang="ro-RO">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Furnizează input-ul. Primește output-ul de </a:t>
                      </a:r>
                      <a:r>
                        <a:rPr lang="ro-RO" dirty="0" err="1">
                          <a:solidFill>
                            <a:srgbClr val="1B1C1D"/>
                          </a:solidFill>
                          <a:effectLst/>
                          <a:latin typeface="Calibri" panose="020F0502020204030204" pitchFamily="34" charset="0"/>
                          <a:ea typeface="Calibri" panose="020F0502020204030204" pitchFamily="34" charset="0"/>
                          <a:cs typeface="Calibri" panose="020F0502020204030204" pitchFamily="34" charset="0"/>
                        </a:rPr>
                        <a:t>triage</a:t>
                      </a:r>
                      <a:r>
                        <a:rPr lang="ro-RO"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b="1" noProof="0"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Fără acces la baza de date</a:t>
                      </a:r>
                      <a:r>
                        <a:rPr lang="ro-RO" noProof="0"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 (confidențialitate</a:t>
                      </a:r>
                      <a:r>
                        <a:rPr lang="en-US"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/GDPR</a:t>
                      </a:r>
                      <a:r>
                        <a:rPr lang="fr-FR"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39980224"/>
                  </a:ext>
                </a:extLst>
              </a:tr>
              <a:tr h="0">
                <a:tc>
                  <a:txBody>
                    <a:bodyPr/>
                    <a:lstStyle/>
                    <a:p>
                      <a:pPr rtl="0">
                        <a:buNone/>
                      </a:pPr>
                      <a:r>
                        <a:rPr lang="ro-RO" b="1">
                          <a:solidFill>
                            <a:srgbClr val="1B1C1D"/>
                          </a:solidFill>
                          <a:effectLst/>
                          <a:latin typeface="Calibri" panose="020F0502020204030204" pitchFamily="34" charset="0"/>
                          <a:ea typeface="Calibri" panose="020F0502020204030204" pitchFamily="34" charset="0"/>
                          <a:cs typeface="Calibri" panose="020F0502020204030204" pitchFamily="34" charset="0"/>
                        </a:rPr>
                        <a:t>Administrator/Dezvoltator</a:t>
                      </a:r>
                      <a:endParaRPr lang="ro-RO">
                        <a:solidFill>
                          <a:srgbClr val="1B1C1D"/>
                        </a:solidFill>
                        <a:effectLst/>
                        <a:latin typeface="Calibri" panose="020F0502020204030204" pitchFamily="34" charset="0"/>
                        <a:ea typeface="Calibri" panose="020F0502020204030204" pitchFamily="34" charset="0"/>
                        <a:cs typeface="Calibri" panose="020F0502020204030204" pitchFamily="34" charset="0"/>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Accesează baza de date, monitorizează alerte, calibrează/re-antrenează modelul.</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ro-RO" b="1" noProof="0"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Acces</a:t>
                      </a:r>
                      <a:r>
                        <a:rPr lang="fr-FR" b="1"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 complet la baza de date </a:t>
                      </a:r>
                      <a:r>
                        <a:rPr lang="ro-RO" b="1" dirty="0" err="1">
                          <a:solidFill>
                            <a:srgbClr val="1B1C1D"/>
                          </a:solidFill>
                          <a:effectLst/>
                          <a:latin typeface="Calibri" panose="020F0502020204030204" pitchFamily="34" charset="0"/>
                          <a:ea typeface="Calibri" panose="020F0502020204030204" pitchFamily="34" charset="0"/>
                          <a:cs typeface="Calibri" panose="020F0502020204030204" pitchFamily="34" charset="0"/>
                        </a:rPr>
                        <a:t>ş</a:t>
                      </a:r>
                      <a:r>
                        <a:rPr lang="fr-FR" b="1"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i modelul RN</a:t>
                      </a:r>
                      <a:r>
                        <a:rPr lang="fr-FR" dirty="0">
                          <a:solidFill>
                            <a:srgbClr val="1B1C1D"/>
                          </a:solidFill>
                          <a:effectLst/>
                          <a:latin typeface="Calibri" panose="020F0502020204030204" pitchFamily="34" charset="0"/>
                          <a:ea typeface="Calibri" panose="020F0502020204030204" pitchFamily="34" charset="0"/>
                          <a:cs typeface="Calibri" panose="020F0502020204030204" pitchFamily="34" charset="0"/>
                        </a:rPr>
                        <a: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8526587"/>
                  </a:ext>
                </a:extLst>
              </a:tr>
            </a:tbl>
          </a:graphicData>
        </a:graphic>
      </p:graphicFrame>
    </p:spTree>
    <p:extLst>
      <p:ext uri="{BB962C8B-B14F-4D97-AF65-F5344CB8AC3E}">
        <p14:creationId xmlns:p14="http://schemas.microsoft.com/office/powerpoint/2010/main" val="332012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8E1420A-8AE1-D865-A486-88196B893381}"/>
              </a:ext>
            </a:extLst>
          </p:cNvPr>
          <p:cNvSpPr>
            <a:spLocks noGrp="1"/>
          </p:cNvSpPr>
          <p:nvPr>
            <p:ph type="title"/>
          </p:nvPr>
        </p:nvSpPr>
        <p:spPr/>
        <p:txBody>
          <a:bodyPr/>
          <a:lstStyle/>
          <a:p>
            <a:r>
              <a:rPr lang="ro-RO" dirty="0">
                <a:latin typeface="Calibri" panose="020F0502020204030204" pitchFamily="34" charset="0"/>
                <a:ea typeface="Calibri" panose="020F0502020204030204" pitchFamily="34" charset="0"/>
                <a:cs typeface="Calibri" panose="020F0502020204030204" pitchFamily="34" charset="0"/>
              </a:rPr>
              <a:t>Informații suplimentare</a:t>
            </a:r>
          </a:p>
        </p:txBody>
      </p:sp>
      <p:sp>
        <p:nvSpPr>
          <p:cNvPr id="3" name="Substituent conținut 2">
            <a:extLst>
              <a:ext uri="{FF2B5EF4-FFF2-40B4-BE49-F238E27FC236}">
                <a16:creationId xmlns:a16="http://schemas.microsoft.com/office/drawing/2014/main" id="{8919058D-27FE-F924-57A1-9BF25998E638}"/>
              </a:ext>
            </a:extLst>
          </p:cNvPr>
          <p:cNvSpPr>
            <a:spLocks noGrp="1"/>
          </p:cNvSpPr>
          <p:nvPr>
            <p:ph idx="1"/>
          </p:nvPr>
        </p:nvSpPr>
        <p:spPr>
          <a:xfrm>
            <a:off x="7787148" y="2097088"/>
            <a:ext cx="3962400" cy="2932113"/>
          </a:xfrm>
        </p:spPr>
        <p:txBody>
          <a:bodyPr>
            <a:normAutofit fontScale="85000" lnSpcReduction="10000"/>
          </a:bodyPr>
          <a:lstStyle/>
          <a:p>
            <a:r>
              <a:rPr lang="ro-RO" dirty="0">
                <a:latin typeface="Calibri" panose="020F0502020204030204" pitchFamily="34" charset="0"/>
                <a:ea typeface="Calibri" panose="020F0502020204030204" pitchFamily="34" charset="0"/>
                <a:cs typeface="Calibri" panose="020F0502020204030204" pitchFamily="34" charset="0"/>
              </a:rPr>
              <a:t>În cazul în care mai mulți pacienți prezintă aceleași simptome într-un timp scurt, peste un anumit număr de cazuri se declară o alertă de epidemie, caz în care toți pacienții cu acele simptome sunt chemați de urgență la medic.</a:t>
            </a:r>
          </a:p>
        </p:txBody>
      </p:sp>
      <p:sp>
        <p:nvSpPr>
          <p:cNvPr id="4" name="Substituent conținut 2">
            <a:extLst>
              <a:ext uri="{FF2B5EF4-FFF2-40B4-BE49-F238E27FC236}">
                <a16:creationId xmlns:a16="http://schemas.microsoft.com/office/drawing/2014/main" id="{85A316C9-53D2-A08F-4C09-7A4BBCEF7D6A}"/>
              </a:ext>
            </a:extLst>
          </p:cNvPr>
          <p:cNvSpPr txBox="1">
            <a:spLocks/>
          </p:cNvSpPr>
          <p:nvPr/>
        </p:nvSpPr>
        <p:spPr>
          <a:xfrm>
            <a:off x="2030361" y="2249487"/>
            <a:ext cx="2916134" cy="175224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endParaRPr lang="ro-RO"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Tabel 4">
            <a:extLst>
              <a:ext uri="{FF2B5EF4-FFF2-40B4-BE49-F238E27FC236}">
                <a16:creationId xmlns:a16="http://schemas.microsoft.com/office/drawing/2014/main" id="{8DAC22A4-0912-3BC9-9CFE-1125EF5BCB6D}"/>
              </a:ext>
            </a:extLst>
          </p:cNvPr>
          <p:cNvGraphicFramePr>
            <a:graphicFrameLocks noGrp="1"/>
          </p:cNvGraphicFramePr>
          <p:nvPr>
            <p:extLst>
              <p:ext uri="{D42A27DB-BD31-4B8C-83A1-F6EECF244321}">
                <p14:modId xmlns:p14="http://schemas.microsoft.com/office/powerpoint/2010/main" val="4129959526"/>
              </p:ext>
            </p:extLst>
          </p:nvPr>
        </p:nvGraphicFramePr>
        <p:xfrm>
          <a:off x="944768" y="1670009"/>
          <a:ext cx="6567078" cy="4663440"/>
        </p:xfrm>
        <a:graphic>
          <a:graphicData uri="http://schemas.openxmlformats.org/drawingml/2006/table">
            <a:tbl>
              <a:tblPr/>
              <a:tblGrid>
                <a:gridCol w="2189026">
                  <a:extLst>
                    <a:ext uri="{9D8B030D-6E8A-4147-A177-3AD203B41FA5}">
                      <a16:colId xmlns:a16="http://schemas.microsoft.com/office/drawing/2014/main" val="550213163"/>
                    </a:ext>
                  </a:extLst>
                </a:gridCol>
                <a:gridCol w="2189026">
                  <a:extLst>
                    <a:ext uri="{9D8B030D-6E8A-4147-A177-3AD203B41FA5}">
                      <a16:colId xmlns:a16="http://schemas.microsoft.com/office/drawing/2014/main" val="2108748209"/>
                    </a:ext>
                  </a:extLst>
                </a:gridCol>
                <a:gridCol w="2189026">
                  <a:extLst>
                    <a:ext uri="{9D8B030D-6E8A-4147-A177-3AD203B41FA5}">
                      <a16:colId xmlns:a16="http://schemas.microsoft.com/office/drawing/2014/main" val="2589451299"/>
                    </a:ext>
                  </a:extLst>
                </a:gridCol>
              </a:tblGrid>
              <a:tr h="0">
                <a:tc>
                  <a:txBody>
                    <a:bodyPr/>
                    <a:lstStyle/>
                    <a:p>
                      <a:pPr>
                        <a:buNone/>
                      </a:pPr>
                      <a:r>
                        <a:rPr lang="ro-RO" dirty="0">
                          <a:solidFill>
                            <a:schemeClr val="bg1"/>
                          </a:solidFill>
                          <a:latin typeface="Calibri" panose="020F0502020204030204" pitchFamily="34" charset="0"/>
                          <a:ea typeface="Calibri" panose="020F0502020204030204" pitchFamily="34" charset="0"/>
                          <a:cs typeface="Calibri" panose="020F0502020204030204" pitchFamily="34" charset="0"/>
                        </a:rPr>
                        <a:t>Situație</a:t>
                      </a:r>
                    </a:p>
                  </a:txBody>
                  <a:tcPr anchor="ctr">
                    <a:lnL>
                      <a:noFill/>
                    </a:lnL>
                    <a:lnR>
                      <a:noFill/>
                    </a:lnR>
                    <a:lnT>
                      <a:noFill/>
                    </a:lnT>
                    <a:lnB>
                      <a:noFill/>
                    </a:lnB>
                    <a:noFill/>
                  </a:tcPr>
                </a:tc>
                <a:tc>
                  <a:txBody>
                    <a:bodyPr/>
                    <a:lstStyle/>
                    <a:p>
                      <a:pPr>
                        <a:buNone/>
                      </a:pPr>
                      <a:r>
                        <a:rPr lang="ro-RO">
                          <a:solidFill>
                            <a:schemeClr val="bg1"/>
                          </a:solidFill>
                          <a:latin typeface="Calibri" panose="020F0502020204030204" pitchFamily="34" charset="0"/>
                          <a:ea typeface="Calibri" panose="020F0502020204030204" pitchFamily="34" charset="0"/>
                          <a:cs typeface="Calibri" panose="020F0502020204030204" pitchFamily="34" charset="0"/>
                        </a:rPr>
                        <a:t>Logica Recomandării</a:t>
                      </a:r>
                    </a:p>
                  </a:txBody>
                  <a:tcPr anchor="ctr">
                    <a:lnL>
                      <a:noFill/>
                    </a:lnL>
                    <a:lnR>
                      <a:noFill/>
                    </a:lnR>
                    <a:lnT>
                      <a:noFill/>
                    </a:lnT>
                    <a:lnB>
                      <a:noFill/>
                    </a:lnB>
                    <a:noFill/>
                  </a:tcPr>
                </a:tc>
                <a:tc>
                  <a:txBody>
                    <a:bodyPr/>
                    <a:lstStyle/>
                    <a:p>
                      <a:pPr>
                        <a:buNone/>
                      </a:pPr>
                      <a:r>
                        <a:rPr lang="ro-RO">
                          <a:solidFill>
                            <a:schemeClr val="bg1"/>
                          </a:solidFill>
                          <a:latin typeface="Calibri" panose="020F0502020204030204" pitchFamily="34" charset="0"/>
                          <a:ea typeface="Calibri" panose="020F0502020204030204" pitchFamily="34" charset="0"/>
                          <a:cs typeface="Calibri" panose="020F0502020204030204" pitchFamily="34" charset="0"/>
                        </a:rPr>
                        <a:t>Recomandarea Finală (Output)</a:t>
                      </a:r>
                    </a:p>
                  </a:txBody>
                  <a:tcPr anchor="ctr">
                    <a:lnL>
                      <a:noFill/>
                    </a:lnL>
                    <a:lnR>
                      <a:noFill/>
                    </a:lnR>
                    <a:lnT>
                      <a:noFill/>
                    </a:lnT>
                    <a:lnB>
                      <a:noFill/>
                    </a:lnB>
                    <a:noFill/>
                  </a:tcPr>
                </a:tc>
                <a:extLst>
                  <a:ext uri="{0D108BD9-81ED-4DB2-BD59-A6C34878D82A}">
                    <a16:rowId xmlns:a16="http://schemas.microsoft.com/office/drawing/2014/main" val="3682484228"/>
                  </a:ext>
                </a:extLst>
              </a:tr>
              <a:tr h="0">
                <a:tc>
                  <a:txBody>
                    <a:bodyPr/>
                    <a:lstStyle/>
                    <a:p>
                      <a:pPr>
                        <a:buNone/>
                      </a:pPr>
                      <a:r>
                        <a:rPr lang="ro-RO" b="1">
                          <a:solidFill>
                            <a:schemeClr val="bg1"/>
                          </a:solidFill>
                          <a:latin typeface="Calibri" panose="020F0502020204030204" pitchFamily="34" charset="0"/>
                          <a:ea typeface="Calibri" panose="020F0502020204030204" pitchFamily="34" charset="0"/>
                          <a:cs typeface="Calibri" panose="020F0502020204030204" pitchFamily="34" charset="0"/>
                        </a:rPr>
                        <a:t>Caz Normal</a:t>
                      </a:r>
                      <a:endParaRPr lang="ro-RO">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buNone/>
                      </a:pPr>
                      <a:r>
                        <a:rPr lang="ro-RO">
                          <a:solidFill>
                            <a:schemeClr val="bg1"/>
                          </a:solidFill>
                          <a:latin typeface="Calibri" panose="020F0502020204030204" pitchFamily="34" charset="0"/>
                          <a:ea typeface="Calibri" panose="020F0502020204030204" pitchFamily="34" charset="0"/>
                          <a:cs typeface="Calibri" panose="020F0502020204030204" pitchFamily="34" charset="0"/>
                        </a:rPr>
                        <a:t>Se aplică regula de acțiune a bolii prezise (Trece de la sine, Medicamente, Vizită Dermatolog).</a:t>
                      </a:r>
                    </a:p>
                  </a:txBody>
                  <a:tcPr anchor="ctr">
                    <a:lnL>
                      <a:noFill/>
                    </a:lnL>
                    <a:lnR>
                      <a:noFill/>
                    </a:lnR>
                    <a:lnT>
                      <a:noFill/>
                    </a:lnT>
                    <a:lnB>
                      <a:noFill/>
                    </a:lnB>
                    <a:noFill/>
                  </a:tcPr>
                </a:tc>
                <a:tc>
                  <a:txBody>
                    <a:bodyPr/>
                    <a:lstStyle/>
                    <a:p>
                      <a:pPr>
                        <a:buNone/>
                      </a:pPr>
                      <a:r>
                        <a:rPr lang="it-IT" i="1">
                          <a:solidFill>
                            <a:schemeClr val="bg1"/>
                          </a:solidFill>
                          <a:latin typeface="Calibri" panose="020F0502020204030204" pitchFamily="34" charset="0"/>
                          <a:ea typeface="Calibri" panose="020F0502020204030204" pitchFamily="34" charset="0"/>
                          <a:cs typeface="Calibri" panose="020F0502020204030204" pitchFamily="34" charset="0"/>
                        </a:rPr>
                        <a:t>Ex: "Psoriazis (85%) - Necesită vizita la Dermatolog."</a:t>
                      </a:r>
                      <a:endParaRPr lang="it-IT">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extLst>
                  <a:ext uri="{0D108BD9-81ED-4DB2-BD59-A6C34878D82A}">
                    <a16:rowId xmlns:a16="http://schemas.microsoft.com/office/drawing/2014/main" val="840790074"/>
                  </a:ext>
                </a:extLst>
              </a:tr>
              <a:tr h="0">
                <a:tc>
                  <a:txBody>
                    <a:bodyPr/>
                    <a:lstStyle/>
                    <a:p>
                      <a:pPr>
                        <a:buNone/>
                      </a:pPr>
                      <a:r>
                        <a:rPr lang="ro-RO" b="1">
                          <a:solidFill>
                            <a:schemeClr val="bg1"/>
                          </a:solidFill>
                          <a:latin typeface="Calibri" panose="020F0502020204030204" pitchFamily="34" charset="0"/>
                          <a:ea typeface="Calibri" panose="020F0502020204030204" pitchFamily="34" charset="0"/>
                          <a:cs typeface="Calibri" panose="020F0502020204030204" pitchFamily="34" charset="0"/>
                        </a:rPr>
                        <a:t>Caz Epidemic (NOU)</a:t>
                      </a:r>
                      <a:endParaRPr lang="ro-RO">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buNone/>
                      </a:pPr>
                      <a:r>
                        <a:rPr lang="ro-RO">
                          <a:solidFill>
                            <a:schemeClr val="bg1"/>
                          </a:solidFill>
                          <a:latin typeface="Calibri" panose="020F0502020204030204" pitchFamily="34" charset="0"/>
                          <a:ea typeface="Calibri" panose="020F0502020204030204" pitchFamily="34" charset="0"/>
                          <a:cs typeface="Calibri" panose="020F0502020204030204" pitchFamily="34" charset="0"/>
                        </a:rPr>
                        <a:t>Indiferent de boala prezisă (chiar dacă e, de ex., o formă ușoară de </a:t>
                      </a:r>
                      <a:r>
                        <a:rPr lang="ro-RO" i="1">
                          <a:solidFill>
                            <a:schemeClr val="bg1"/>
                          </a:solidFill>
                          <a:latin typeface="Calibri" panose="020F0502020204030204" pitchFamily="34" charset="0"/>
                          <a:ea typeface="Calibri" panose="020F0502020204030204" pitchFamily="34" charset="0"/>
                          <a:cs typeface="Calibri" panose="020F0502020204030204" pitchFamily="34" charset="0"/>
                        </a:rPr>
                        <a:t>Pityriasis rosea</a:t>
                      </a:r>
                      <a:r>
                        <a:rPr lang="ro-RO">
                          <a:solidFill>
                            <a:schemeClr val="bg1"/>
                          </a:solidFill>
                          <a:latin typeface="Calibri" panose="020F0502020204030204" pitchFamily="34" charset="0"/>
                          <a:ea typeface="Calibri" panose="020F0502020204030204" pitchFamily="34" charset="0"/>
                          <a:cs typeface="Calibri" panose="020F0502020204030204" pitchFamily="34" charset="0"/>
                        </a:rPr>
                        <a:t> care trece de la sine), dacă modulul de alertă este activ: </a:t>
                      </a:r>
                      <a:r>
                        <a:rPr lang="ro-RO" b="1">
                          <a:solidFill>
                            <a:schemeClr val="bg1"/>
                          </a:solidFill>
                          <a:latin typeface="Calibri" panose="020F0502020204030204" pitchFamily="34" charset="0"/>
                          <a:ea typeface="Calibri" panose="020F0502020204030204" pitchFamily="34" charset="0"/>
                          <a:cs typeface="Calibri" panose="020F0502020204030204" pitchFamily="34" charset="0"/>
                        </a:rPr>
                        <a:t>Se suprascrie recomandarea.</a:t>
                      </a:r>
                      <a:endParaRPr lang="ro-RO">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buNone/>
                      </a:pPr>
                      <a:r>
                        <a:rPr lang="ro-RO" b="1" dirty="0">
                          <a:solidFill>
                            <a:schemeClr val="bg1"/>
                          </a:solidFill>
                          <a:latin typeface="Calibri" panose="020F0502020204030204" pitchFamily="34" charset="0"/>
                          <a:ea typeface="Calibri" panose="020F0502020204030204" pitchFamily="34" charset="0"/>
                          <a:cs typeface="Calibri" panose="020F0502020204030204" pitchFamily="34" charset="0"/>
                        </a:rPr>
                        <a:t>ATENȚIE!</a:t>
                      </a:r>
                      <a:r>
                        <a:rPr lang="ro-RO"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ro-RO" b="1" dirty="0">
                          <a:solidFill>
                            <a:schemeClr val="bg1"/>
                          </a:solidFill>
                          <a:latin typeface="Calibri" panose="020F0502020204030204" pitchFamily="34" charset="0"/>
                          <a:ea typeface="Calibri" panose="020F0502020204030204" pitchFamily="34" charset="0"/>
                          <a:cs typeface="Calibri" panose="020F0502020204030204" pitchFamily="34" charset="0"/>
                        </a:rPr>
                        <a:t>Epidemie Actuală Detectată.</a:t>
                      </a:r>
                      <a:r>
                        <a:rPr lang="ro-RO" dirty="0">
                          <a:solidFill>
                            <a:schemeClr val="bg1"/>
                          </a:solidFill>
                          <a:latin typeface="Calibri" panose="020F0502020204030204" pitchFamily="34" charset="0"/>
                          <a:ea typeface="Calibri" panose="020F0502020204030204" pitchFamily="34" charset="0"/>
                          <a:cs typeface="Calibri" panose="020F0502020204030204" pitchFamily="34" charset="0"/>
                        </a:rPr>
                        <a:t> Vă rugăm să </a:t>
                      </a:r>
                      <a:r>
                        <a:rPr lang="ro-RO" b="1" dirty="0">
                          <a:solidFill>
                            <a:schemeClr val="bg1"/>
                          </a:solidFill>
                          <a:latin typeface="Calibri" panose="020F0502020204030204" pitchFamily="34" charset="0"/>
                          <a:ea typeface="Calibri" panose="020F0502020204030204" pitchFamily="34" charset="0"/>
                          <a:cs typeface="Calibri" panose="020F0502020204030204" pitchFamily="34" charset="0"/>
                        </a:rPr>
                        <a:t>VĂ PREZENTAȚI IMEDIAT LA CLINICĂ</a:t>
                      </a:r>
                      <a:r>
                        <a:rPr lang="ro-RO" dirty="0">
                          <a:solidFill>
                            <a:schemeClr val="bg1"/>
                          </a:solidFill>
                          <a:latin typeface="Calibri" panose="020F0502020204030204" pitchFamily="34" charset="0"/>
                          <a:ea typeface="Calibri" panose="020F0502020204030204" pitchFamily="34" charset="0"/>
                          <a:cs typeface="Calibri" panose="020F0502020204030204" pitchFamily="34" charset="0"/>
                        </a:rPr>
                        <a:t> pentru evaluare și măsuri de prevenție.</a:t>
                      </a:r>
                    </a:p>
                  </a:txBody>
                  <a:tcPr anchor="ctr">
                    <a:lnL>
                      <a:noFill/>
                    </a:lnL>
                    <a:lnR>
                      <a:noFill/>
                    </a:lnR>
                    <a:lnT>
                      <a:noFill/>
                    </a:lnT>
                    <a:lnB>
                      <a:noFill/>
                    </a:lnB>
                    <a:noFill/>
                  </a:tcPr>
                </a:tc>
                <a:extLst>
                  <a:ext uri="{0D108BD9-81ED-4DB2-BD59-A6C34878D82A}">
                    <a16:rowId xmlns:a16="http://schemas.microsoft.com/office/drawing/2014/main" val="779916043"/>
                  </a:ext>
                </a:extLst>
              </a:tr>
            </a:tbl>
          </a:graphicData>
        </a:graphic>
      </p:graphicFrame>
    </p:spTree>
    <p:extLst>
      <p:ext uri="{BB962C8B-B14F-4D97-AF65-F5344CB8AC3E}">
        <p14:creationId xmlns:p14="http://schemas.microsoft.com/office/powerpoint/2010/main" val="1470474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D7BAFE09-167D-82D3-A4DD-3E3010010CE5}"/>
              </a:ext>
            </a:extLst>
          </p:cNvPr>
          <p:cNvSpPr>
            <a:spLocks noGrp="1"/>
          </p:cNvSpPr>
          <p:nvPr>
            <p:ph type="title"/>
          </p:nvPr>
        </p:nvSpPr>
        <p:spPr/>
        <p:txBody>
          <a:bodyPr/>
          <a:lstStyle/>
          <a:p>
            <a:r>
              <a:rPr lang="ro-RO" dirty="0">
                <a:latin typeface="Calibri" panose="020F0502020204030204" pitchFamily="34" charset="0"/>
                <a:ea typeface="Calibri" panose="020F0502020204030204" pitchFamily="34" charset="0"/>
                <a:cs typeface="Calibri" panose="020F0502020204030204" pitchFamily="34" charset="0"/>
              </a:rPr>
              <a:t>DIRECȚII DE DEZVOLTARE</a:t>
            </a:r>
          </a:p>
        </p:txBody>
      </p:sp>
      <p:sp>
        <p:nvSpPr>
          <p:cNvPr id="3" name="Substituent conținut 2">
            <a:extLst>
              <a:ext uri="{FF2B5EF4-FFF2-40B4-BE49-F238E27FC236}">
                <a16:creationId xmlns:a16="http://schemas.microsoft.com/office/drawing/2014/main" id="{C3DE1C43-50C9-6F60-76F1-8EA2D0A9369A}"/>
              </a:ext>
            </a:extLst>
          </p:cNvPr>
          <p:cNvSpPr>
            <a:spLocks noGrp="1"/>
          </p:cNvSpPr>
          <p:nvPr>
            <p:ph idx="1"/>
          </p:nvPr>
        </p:nvSpPr>
        <p:spPr/>
        <p:txBody>
          <a:bodyPr>
            <a:normAutofit lnSpcReduction="10000"/>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De asemenea, în cazul în care este declarată starea de epidemie (bolile sunt necontagioase, deci e vorba de un focar), utilizatorul care suferă de boala contagioasă va mai avea de completat un </a:t>
            </a:r>
            <a:r>
              <a:rPr lang="ro-RO" dirty="0" err="1">
                <a:latin typeface="Calibri" panose="020F0502020204030204" pitchFamily="34" charset="0"/>
                <a:ea typeface="Calibri" panose="020F0502020204030204" pitchFamily="34" charset="0"/>
                <a:cs typeface="Calibri" panose="020F0502020204030204" pitchFamily="34" charset="0"/>
              </a:rPr>
              <a:t>quiz</a:t>
            </a:r>
            <a:r>
              <a:rPr lang="ro-RO" dirty="0">
                <a:latin typeface="Calibri" panose="020F0502020204030204" pitchFamily="34" charset="0"/>
                <a:ea typeface="Calibri" panose="020F0502020204030204" pitchFamily="34" charset="0"/>
                <a:cs typeface="Calibri" panose="020F0502020204030204" pitchFamily="34" charset="0"/>
              </a:rPr>
              <a:t> despre activitățile lui din ultima perioadă care ar putea determina de unde a pornit focarul (localizare, expunere chimică, factori de mediu, alimentație, contact).</a:t>
            </a:r>
          </a:p>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Momentan aceste date se vor stoca într-o bază de date și atât, lăsând loc de interpretări. În cazul dezvoltării ulterioare a aplicației se mai poate face încă o rețea neuronală de predicție a focarului.</a:t>
            </a:r>
          </a:p>
        </p:txBody>
      </p:sp>
    </p:spTree>
    <p:extLst>
      <p:ext uri="{BB962C8B-B14F-4D97-AF65-F5344CB8AC3E}">
        <p14:creationId xmlns:p14="http://schemas.microsoft.com/office/powerpoint/2010/main" val="3176168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D7276E0-DBAE-6340-8C54-C17B0333069D}"/>
              </a:ext>
            </a:extLst>
          </p:cNvPr>
          <p:cNvSpPr>
            <a:spLocks noGrp="1"/>
          </p:cNvSpPr>
          <p:nvPr>
            <p:ph type="title"/>
          </p:nvPr>
        </p:nvSpPr>
        <p:spPr/>
        <p:txBody>
          <a:bodyPr/>
          <a:lstStyle/>
          <a:p>
            <a:r>
              <a:rPr lang="ro-RO" dirty="0"/>
              <a:t>concluzie</a:t>
            </a:r>
          </a:p>
        </p:txBody>
      </p:sp>
      <p:sp>
        <p:nvSpPr>
          <p:cNvPr id="3" name="Substituent conținut 2">
            <a:extLst>
              <a:ext uri="{FF2B5EF4-FFF2-40B4-BE49-F238E27FC236}">
                <a16:creationId xmlns:a16="http://schemas.microsoft.com/office/drawing/2014/main" id="{4A41D8D1-47C7-C28A-EAC3-8C7E27ADD31F}"/>
              </a:ext>
            </a:extLst>
          </p:cNvPr>
          <p:cNvSpPr>
            <a:spLocks noGrp="1"/>
          </p:cNvSpPr>
          <p:nvPr>
            <p:ph idx="1"/>
          </p:nvPr>
        </p:nvSpPr>
        <p:spPr>
          <a:xfrm>
            <a:off x="1141413" y="2249487"/>
            <a:ext cx="6311440" cy="3541714"/>
          </a:xfrm>
        </p:spPr>
        <p:txBody>
          <a:bodyPr>
            <a:normAutofit lnSpcReduction="10000"/>
          </a:bodyPr>
          <a:lstStyle/>
          <a:p>
            <a:pPr marL="0" indent="0">
              <a:buNone/>
            </a:pPr>
            <a:r>
              <a:rPr lang="ro-RO" dirty="0">
                <a:latin typeface="Calibri" panose="020F0502020204030204" pitchFamily="34" charset="0"/>
                <a:ea typeface="Calibri" panose="020F0502020204030204" pitchFamily="34" charset="0"/>
                <a:cs typeface="Calibri" panose="020F0502020204030204" pitchFamily="34" charset="0"/>
              </a:rPr>
              <a:t>Proiectul are ca scop să creeze o aplicație de </a:t>
            </a:r>
            <a:r>
              <a:rPr lang="ro-RO" dirty="0" err="1">
                <a:latin typeface="Calibri" panose="020F0502020204030204" pitchFamily="34" charset="0"/>
                <a:ea typeface="Calibri" panose="020F0502020204030204" pitchFamily="34" charset="0"/>
                <a:cs typeface="Calibri" panose="020F0502020204030204" pitchFamily="34" charset="0"/>
              </a:rPr>
              <a:t>triage</a:t>
            </a:r>
            <a:r>
              <a:rPr lang="ro-RO" dirty="0">
                <a:latin typeface="Calibri" panose="020F0502020204030204" pitchFamily="34" charset="0"/>
                <a:ea typeface="Calibri" panose="020F0502020204030204" pitchFamily="34" charset="0"/>
                <a:cs typeface="Calibri" panose="020F0502020204030204" pitchFamily="34" charset="0"/>
              </a:rPr>
              <a:t> de la distanță inspirată de celebra </a:t>
            </a:r>
            <a:r>
              <a:rPr lang="ro-RO" dirty="0" err="1">
                <a:latin typeface="Calibri" panose="020F0502020204030204" pitchFamily="34" charset="0"/>
                <a:ea typeface="Calibri" panose="020F0502020204030204" pitchFamily="34" charset="0"/>
                <a:cs typeface="Calibri" panose="020F0502020204030204" pitchFamily="34" charset="0"/>
              </a:rPr>
              <a:t>AdaHealth</a:t>
            </a:r>
            <a:r>
              <a:rPr lang="ro-RO" dirty="0">
                <a:latin typeface="Calibri" panose="020F0502020204030204" pitchFamily="34" charset="0"/>
                <a:ea typeface="Calibri" panose="020F0502020204030204" pitchFamily="34" charset="0"/>
                <a:cs typeface="Calibri" panose="020F0502020204030204" pitchFamily="34" charset="0"/>
              </a:rPr>
              <a:t> (care folosește în principal același sistem de rețele neuronale pentru predicție), cu diferența că aplicația mea o să fie specializată pe o ramură de nișă (unde aplicațiile generale de genul și nici chiar medicii nu pot sesiza din prima diferențele de nuanță).</a:t>
            </a:r>
          </a:p>
        </p:txBody>
      </p:sp>
      <p:sp>
        <p:nvSpPr>
          <p:cNvPr id="4" name="Google Shape;1112;p49">
            <a:extLst>
              <a:ext uri="{FF2B5EF4-FFF2-40B4-BE49-F238E27FC236}">
                <a16:creationId xmlns:a16="http://schemas.microsoft.com/office/drawing/2014/main" id="{CBE9CECB-B0CE-CCFA-8B06-D230BA5E478E}"/>
              </a:ext>
            </a:extLst>
          </p:cNvPr>
          <p:cNvSpPr txBox="1">
            <a:spLocks/>
          </p:cNvSpPr>
          <p:nvPr/>
        </p:nvSpPr>
        <p:spPr>
          <a:xfrm>
            <a:off x="7599851" y="2624135"/>
            <a:ext cx="4769130" cy="10170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ro-RO" b="1" dirty="0"/>
              <a:t>Întrebări?</a:t>
            </a:r>
          </a:p>
          <a:p>
            <a:pPr marL="0" indent="0">
              <a:spcBef>
                <a:spcPts val="0"/>
              </a:spcBef>
              <a:buFont typeface="Arial" panose="020B0604020202020204" pitchFamily="34" charset="0"/>
              <a:buNone/>
            </a:pPr>
            <a:r>
              <a:rPr lang="ro-RO" dirty="0"/>
              <a:t>Student: Balu Adrian-David</a:t>
            </a:r>
          </a:p>
          <a:p>
            <a:pPr marL="0" indent="0">
              <a:spcBef>
                <a:spcPts val="0"/>
              </a:spcBef>
              <a:buFont typeface="Arial" panose="020B0604020202020204" pitchFamily="34" charset="0"/>
              <a:buNone/>
            </a:pPr>
            <a:endParaRPr lang="ro-RO" dirty="0"/>
          </a:p>
          <a:p>
            <a:pPr marL="0" indent="0">
              <a:spcBef>
                <a:spcPts val="0"/>
              </a:spcBef>
              <a:buFont typeface="Arial" panose="020B0604020202020204" pitchFamily="34" charset="0"/>
              <a:buNone/>
            </a:pPr>
            <a:r>
              <a:rPr lang="ro-RO" dirty="0"/>
              <a:t>Mail: adrian_david.balu@stud.fiir.upb.ro</a:t>
            </a:r>
          </a:p>
          <a:p>
            <a:pPr marL="0" indent="0">
              <a:spcBef>
                <a:spcPts val="0"/>
              </a:spcBef>
              <a:buFont typeface="Arial" panose="020B0604020202020204" pitchFamily="34" charset="0"/>
              <a:buNone/>
            </a:pPr>
            <a:r>
              <a:rPr lang="ro-RO" dirty="0"/>
              <a:t>Telefon: 0722503522</a:t>
            </a:r>
          </a:p>
        </p:txBody>
      </p:sp>
      <p:grpSp>
        <p:nvGrpSpPr>
          <p:cNvPr id="5" name="Grupare 4">
            <a:extLst>
              <a:ext uri="{FF2B5EF4-FFF2-40B4-BE49-F238E27FC236}">
                <a16:creationId xmlns:a16="http://schemas.microsoft.com/office/drawing/2014/main" id="{2FC9A004-2893-6222-A2A5-34382769D8A6}"/>
              </a:ext>
            </a:extLst>
          </p:cNvPr>
          <p:cNvGrpSpPr/>
          <p:nvPr/>
        </p:nvGrpSpPr>
        <p:grpSpPr>
          <a:xfrm>
            <a:off x="7651151" y="3653608"/>
            <a:ext cx="426097" cy="425693"/>
            <a:chOff x="5944069" y="545316"/>
            <a:chExt cx="426097" cy="425693"/>
          </a:xfrm>
        </p:grpSpPr>
        <p:sp>
          <p:nvSpPr>
            <p:cNvPr id="6" name="Google Shape;1101;p49">
              <a:extLst>
                <a:ext uri="{FF2B5EF4-FFF2-40B4-BE49-F238E27FC236}">
                  <a16:creationId xmlns:a16="http://schemas.microsoft.com/office/drawing/2014/main" id="{492B2168-57BA-E282-76A9-CFA3929AE414}"/>
                </a:ext>
              </a:extLst>
            </p:cNvPr>
            <p:cNvSpPr/>
            <p:nvPr/>
          </p:nvSpPr>
          <p:spPr>
            <a:xfrm>
              <a:off x="5944069" y="545316"/>
              <a:ext cx="426097" cy="425693"/>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102;p49">
              <a:extLst>
                <a:ext uri="{FF2B5EF4-FFF2-40B4-BE49-F238E27FC236}">
                  <a16:creationId xmlns:a16="http://schemas.microsoft.com/office/drawing/2014/main" id="{130F0723-996B-BF6C-F168-CBD0B07E2A6F}"/>
                </a:ext>
              </a:extLst>
            </p:cNvPr>
            <p:cNvSpPr/>
            <p:nvPr/>
          </p:nvSpPr>
          <p:spPr>
            <a:xfrm>
              <a:off x="6045733" y="720646"/>
              <a:ext cx="47014" cy="139644"/>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03;p49">
              <a:extLst>
                <a:ext uri="{FF2B5EF4-FFF2-40B4-BE49-F238E27FC236}">
                  <a16:creationId xmlns:a16="http://schemas.microsoft.com/office/drawing/2014/main" id="{E8392DAA-43B3-A4F5-C5A1-23368AF4946D}"/>
                </a:ext>
              </a:extLst>
            </p:cNvPr>
            <p:cNvSpPr/>
            <p:nvPr/>
          </p:nvSpPr>
          <p:spPr>
            <a:xfrm>
              <a:off x="6026734" y="637316"/>
              <a:ext cx="66013" cy="56690"/>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04;p49">
              <a:extLst>
                <a:ext uri="{FF2B5EF4-FFF2-40B4-BE49-F238E27FC236}">
                  <a16:creationId xmlns:a16="http://schemas.microsoft.com/office/drawing/2014/main" id="{8C3842EC-37A2-EFE3-D107-BBECFC18A3A4}"/>
                </a:ext>
              </a:extLst>
            </p:cNvPr>
            <p:cNvSpPr/>
            <p:nvPr/>
          </p:nvSpPr>
          <p:spPr>
            <a:xfrm>
              <a:off x="6138353" y="720614"/>
              <a:ext cx="149147" cy="14014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CasetăText 9">
            <a:extLst>
              <a:ext uri="{FF2B5EF4-FFF2-40B4-BE49-F238E27FC236}">
                <a16:creationId xmlns:a16="http://schemas.microsoft.com/office/drawing/2014/main" id="{B4C1C2F0-D2A7-63AD-1087-1EE85E341660}"/>
              </a:ext>
            </a:extLst>
          </p:cNvPr>
          <p:cNvSpPr txBox="1"/>
          <p:nvPr/>
        </p:nvSpPr>
        <p:spPr>
          <a:xfrm>
            <a:off x="8077248" y="3672790"/>
            <a:ext cx="2451312" cy="307777"/>
          </a:xfrm>
          <a:prstGeom prst="rect">
            <a:avLst/>
          </a:prstGeom>
          <a:noFill/>
        </p:spPr>
        <p:txBody>
          <a:bodyPr wrap="none" rtlCol="0">
            <a:spAutoFit/>
          </a:bodyPr>
          <a:lstStyle/>
          <a:p>
            <a:r>
              <a:rPr lang="ro-RO" dirty="0">
                <a:hlinkClick r:id="rId2"/>
              </a:rPr>
              <a:t>Adrian-David Balu | </a:t>
            </a:r>
            <a:r>
              <a:rPr lang="ro-RO" dirty="0" err="1">
                <a:hlinkClick r:id="rId2"/>
              </a:rPr>
              <a:t>LinkedIn</a:t>
            </a:r>
            <a:endParaRPr lang="ro-RO" dirty="0"/>
          </a:p>
        </p:txBody>
      </p:sp>
    </p:spTree>
    <p:extLst>
      <p:ext uri="{BB962C8B-B14F-4D97-AF65-F5344CB8AC3E}">
        <p14:creationId xmlns:p14="http://schemas.microsoft.com/office/powerpoint/2010/main" val="12110365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164</TotalTime>
  <Words>2558</Words>
  <Application>Microsoft Office PowerPoint</Application>
  <PresentationFormat>Ecran lat</PresentationFormat>
  <Paragraphs>171</Paragraphs>
  <Slides>32</Slides>
  <Notes>0</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32</vt:i4>
      </vt:variant>
    </vt:vector>
  </HeadingPairs>
  <TitlesOfParts>
    <vt:vector size="37" baseType="lpstr">
      <vt:lpstr>Arial</vt:lpstr>
      <vt:lpstr>Calibri</vt:lpstr>
      <vt:lpstr>Google Sans Text</vt:lpstr>
      <vt:lpstr>Tw Cen MT</vt:lpstr>
      <vt:lpstr>Circuit</vt:lpstr>
      <vt:lpstr>Optimizarea Diagnosticului Diferențial în Dermatologie utilizând un Model de Clasificare prin Deep Learning</vt:lpstr>
      <vt:lpstr>1. DESCRIERE NEVOIE</vt:lpstr>
      <vt:lpstr>Descriere idee generală proiect</vt:lpstr>
      <vt:lpstr>DOMENIUL INDUSTRIAL DE INTERES (dii)</vt:lpstr>
      <vt:lpstr>CE ESTE UCI DERMATOLOGY DATASET?</vt:lpstr>
      <vt:lpstr>Prezentare PowerPoint</vt:lpstr>
      <vt:lpstr>Psoriazis (caz roșu „Mergi la doctor”)</vt:lpstr>
      <vt:lpstr>DERMATITĂ SEBOREICĂ (CAZ GALBEN „Medicament/consult opțional”)</vt:lpstr>
      <vt:lpstr>Lichen plan(CAZ GALBEN „Medicament/consult opțional”)</vt:lpstr>
      <vt:lpstr>Pityriasis rosea (CAZ VERDE „TRECE DE LA SINE”</vt:lpstr>
      <vt:lpstr>DERMATITĂ CRONICĂ (caz roșu „Mergi la doctor”)</vt:lpstr>
      <vt:lpstr>PITYRIASIS RUBRA PILARIS (caz roșu „Mergi la doctor”)</vt:lpstr>
      <vt:lpstr>Prezentare PowerPoint</vt:lpstr>
      <vt:lpstr>Psoriazis (caz roșu „Mergi la doctor”)</vt:lpstr>
      <vt:lpstr>DERMATITĂ SEBOREICĂ (CAZ GALBEN „Medicament/consult opțional”)</vt:lpstr>
      <vt:lpstr>Lichen plan(CAZ GALBEN „Medicament/consult opțional”)</vt:lpstr>
      <vt:lpstr>Pityriasis rosea (CAZ VERDE „TRECE DE LA SINE”</vt:lpstr>
      <vt:lpstr>DERMATITĂ CRONICĂ (caz roșu „Mergi la doctor”)</vt:lpstr>
      <vt:lpstr>PITYRIASIS RUBRA PILARIS (caz roșu „Mergi la doctor”)</vt:lpstr>
      <vt:lpstr>Mic glosar medical</vt:lpstr>
      <vt:lpstr>STUDIU DE CAZ ACTUAL ȘI TENDINȚE</vt:lpstr>
      <vt:lpstr>BENEFICII MĂSURABILE SIA</vt:lpstr>
      <vt:lpstr>SURSE RELEVANTE</vt:lpstr>
      <vt:lpstr>2. DESCRIEREA SISTEMULUI CU INTELIGENȚĂ ARTIFICIALĂ</vt:lpstr>
      <vt:lpstr>PROPUNERE SISTEM</vt:lpstr>
      <vt:lpstr>CE POATE FACE ȘI DE CE FACE?</vt:lpstr>
      <vt:lpstr>Arhitectura sia-ului: componente principale</vt:lpstr>
      <vt:lpstr>Fluxuri de date</vt:lpstr>
      <vt:lpstr>Utilizatori și permisiuni</vt:lpstr>
      <vt:lpstr>Informații suplimentare</vt:lpstr>
      <vt:lpstr>DIRECȚII DE DEZVOLTARE</vt:lpstr>
      <vt:lpstr>concluzie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Balu</dc:creator>
  <cp:lastModifiedBy>David Balu</cp:lastModifiedBy>
  <cp:revision>31</cp:revision>
  <dcterms:created xsi:type="dcterms:W3CDTF">2025-11-07T08:11:26Z</dcterms:created>
  <dcterms:modified xsi:type="dcterms:W3CDTF">2025-11-14T09:26:21Z</dcterms:modified>
</cp:coreProperties>
</file>